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eff514197448fd" /><Relationship Type="http://schemas.openxmlformats.org/officeDocument/2006/relationships/extended-properties" Target="/docProps/app.xml" Id="R8422950fcc7d4763" /><Relationship Type="http://schemas.openxmlformats.org/officeDocument/2006/relationships/officeDocument" Target="/ppt/presentation.xml" Id="R78f5bf90f352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db1a412aa44ff"/>
  </p:sldMasterIdLst>
  <p:notesMasterIdLst>
    <p:notesMasterId xmlns:r="http://schemas.openxmlformats.org/officeDocument/2006/relationships" r:id="Re877188e6df74a23"/>
  </p:notesMasterIdLst>
  <p:sldIdLst>
    <p:sldId xmlns:r="http://schemas.openxmlformats.org/officeDocument/2006/relationships" id="256" r:id="R395997dd5d9341b7"/>
    <p:sldId xmlns:r="http://schemas.openxmlformats.org/officeDocument/2006/relationships" id="257" r:id="R4c01635a4fb44060"/>
    <p:sldId xmlns:r="http://schemas.openxmlformats.org/officeDocument/2006/relationships" id="258" r:id="R44382cd9f58242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84bbeaba774c97" /><Relationship Type="http://schemas.openxmlformats.org/officeDocument/2006/relationships/slideMaster" Target="/ppt/slideMasters/slideMaster1.xml" Id="R522db1a412aa44ff" /><Relationship Type="http://schemas.openxmlformats.org/officeDocument/2006/relationships/notesMaster" Target="/ppt/notesMasters/notesMaster1.xml" Id="Re877188e6df74a23" /><Relationship Type="http://schemas.openxmlformats.org/officeDocument/2006/relationships/presProps" Target="/ppt/presProps.xml" Id="R24d0acd55f294e0c" /><Relationship Type="http://schemas.openxmlformats.org/officeDocument/2006/relationships/viewProps" Target="/ppt/viewProps.xml" Id="R8965fc3c0d7a4fe0" /><Relationship Type="http://schemas.openxmlformats.org/officeDocument/2006/relationships/tableStyles" Target="/ppt/tableStyles.xml" Id="R523e89260d9e403c" /><Relationship Type="http://schemas.openxmlformats.org/officeDocument/2006/relationships/slide" Target="/ppt/slides/slide1.xml" Id="R395997dd5d9341b7" /><Relationship Type="http://schemas.openxmlformats.org/officeDocument/2006/relationships/slide" Target="/ppt/slides/slide2.xml" Id="R4c01635a4fb44060" /><Relationship Type="http://schemas.openxmlformats.org/officeDocument/2006/relationships/slide" Target="/ppt/slides/slide3.xml" Id="R44382cd9f58242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888798144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b5775312504f05" /><Relationship Type="http://schemas.openxmlformats.org/officeDocument/2006/relationships/notesMaster" Target="/ppt/notesMasters/notesMaster1.xml" Id="R7a603b8f38a648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762f02b6504276" /><Relationship Type="http://schemas.openxmlformats.org/officeDocument/2006/relationships/notesMaster" Target="/ppt/notesMasters/notesMaster1.xml" Id="R3d5a05fd0b3949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ddd68186db44fe" /><Relationship Type="http://schemas.openxmlformats.org/officeDocument/2006/relationships/notesMaster" Target="/ppt/notesMasters/notesMaster1.xml" Id="Rf58811451db54b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
- Reference image supplied by the user in this conversation. Rebuilt as native PowerPoint shapes; the PNG was not used as a slide background.
- unflatten-ppt workflow reference: https://github.com/Feng-Y-28/unflatten-ppt (consulted for editable-PPT reconstruction principles: inspect, reconstruct with native objects, export/compare/iterate).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 authority: framecontact/src/interaction_first/framecontact.py</a:t>
            </a:r>
          </a:p>
          <a:p xmlns:a="http://schemas.openxmlformats.org/drawingml/2006/main">
            <a:r>
              <a:t>- Local geometry attention authority: framecontact/src/interaction_first/intra_chain_geometry.py</a:t>
            </a:r>
          </a:p>
          <a:p xmlns:a="http://schemas.openxmlformats.org/drawingml/2006/main">
            <a:r>
              <a:t>- Frozen task-routing authority: remote_tools/multitask_topk2_training_v1/source/src/interaction_first/framecontact.py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215cc4343463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2ec67e30764539" /><Relationship Type="http://schemas.openxmlformats.org/officeDocument/2006/relationships/slideLayout" Target="/ppt/slideLayouts/slideLayout1.xml" Id="R39910f307e9d41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10f307e9d413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10b744c6f4ed1" /><Relationship Type="http://schemas.openxmlformats.org/officeDocument/2006/relationships/image" Target="/ppt/media/image.png" Id="Rc7982f112a6c442d" /><Relationship Type="http://schemas.openxmlformats.org/officeDocument/2006/relationships/notesSlide" Target="/ppt/notesSlides/notesSlide1.xml" Id="R6a108c7be04e4a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c4c27c0b8422a" /><Relationship Type="http://schemas.openxmlformats.org/officeDocument/2006/relationships/notesSlide" Target="/ppt/notesSlides/notesSlide2.xml" Id="Rb70714feb8aa4b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5999735974155" /><Relationship Type="http://schemas.openxmlformats.org/officeDocument/2006/relationships/notesSlide" Target="/ppt/notesSlides/notesSlide3.xml" Id="R48f399a2504f4f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82f112a6c44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20" y="0"/>
            <a:ext cx="115316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94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592D41-243F-4CA1-ADB8-ADD651BE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128016"/>
            <a:ext cx="6601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(a) Overall Architecture (high-level blocks)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912B87-744B-4BB8-BB6F-6D24AD65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4864"/>
            <a:ext cx="1673352" cy="4133088"/>
          </a:xfrm>
          <a:prstGeom xmlns:a="http://schemas.openxmlformats.org/drawingml/2006/main" prst="roundRect">
            <a:avLst>
              <a:gd name="adj" fmla="val 3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63A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018FCF5-F653-4631-8BEF-43951B4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128016"/>
            <a:ext cx="14904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(b) Interleaved</a:t>
            </a:r>
            <a:endParaRPr sz="950"/>
          </a:p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Encoder Stack (L layers)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B2BB5A-F93C-4465-9367-FE89C5F9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28016"/>
            <a:ext cx="325526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(c) Pair Decoder (Symmetric Low-Rank)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285E8F4-1F59-4227-86BB-9770A7C1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" y="4315968"/>
            <a:ext cx="4096512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63A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B79912-21D5-4FBD-93A1-B2E3A326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4389120"/>
            <a:ext cx="39136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(d) Encoder Block (single chain)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7C97C8E-AEA3-4901-8769-D5152564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4315968"/>
            <a:ext cx="4133088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3A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711F659-B778-44D7-8571-4A33D1F1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389120"/>
            <a:ext cx="3950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3A8A3D"/>
                </a:solidFill>
                <a:latin typeface="Arial"/>
                <a:ea typeface="Arial"/>
                <a:cs typeface="Arial"/>
              </a:rPr>
              <a:t>(e) Bidirectional Cross-Attention (content-only)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73DF4B4-5E6A-4AF8-BE0B-017C304F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315968"/>
            <a:ext cx="3694176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7A3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FF177D-20C9-4B84-85C8-36C82F8E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389120"/>
            <a:ext cx="35112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(f) Task Heads from Pairwise Contact Map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1EDCAD-7743-49C4-A84B-4A93EB65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66928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sequence</a:t>
            </a:r>
            <a:endParaRPr sz="620"/>
          </a:p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(L_ab)</a:t>
            </a:r>
            <a:endParaRPr sz="6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4E542D-D6CF-4EE0-B5CE-2C5CEF5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832104"/>
            <a:ext cx="1216152" cy="155448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30">
                <a:solidFill>
                  <a:srgbClr val="111111"/>
                </a:solidFill>
                <a:latin typeface="Arial"/>
                <a:ea typeface="Arial"/>
                <a:cs typeface="Arial"/>
              </a:rPr>
              <a:t>EVQLVESGGGLVQPGGSLR...</a:t>
            </a:r>
            <a:endParaRPr sz="43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B88F65A-582E-40E2-B793-CBA01AE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404872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sequence</a:t>
            </a:r>
            <a:endParaRPr sz="620"/>
          </a:p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(L_ag)</a:t>
            </a:r>
            <a:endParaRPr sz="6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B334339-D97A-47EE-B5D2-2E46B4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2660904"/>
            <a:ext cx="1216152" cy="155448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30">
                <a:solidFill>
                  <a:srgbClr val="111111"/>
                </a:solidFill>
                <a:latin typeface="Arial"/>
                <a:ea typeface="Arial"/>
                <a:cs typeface="Arial"/>
              </a:rPr>
              <a:t>MKTIILASYIFCLVFADY...</a:t>
            </a:r>
            <a:endParaRPr sz="4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511C6B5-5C74-4A82-9C8F-9F33EF86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676656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ESM-2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(650M)</a:t>
            </a:r>
            <a:endParaRPr sz="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51B0288-4776-48DF-A0F9-99AC048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1152144"/>
            <a:ext cx="713232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OpenDDE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(sequence → frames)</a:t>
            </a:r>
            <a:endParaRPr sz="5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30530AB-69BD-4061-BD23-1CA6FE8F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676656"/>
            <a:ext cx="107899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Projection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 → d_model (128)</a:t>
            </a:r>
            <a:endParaRPr sz="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883BCE1-6CC4-49F7-892F-FAE37E88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1152144"/>
            <a:ext cx="77724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Frame/Geom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Features</a:t>
            </a:r>
            <a:endParaRPr sz="5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2D4F903-F6D1-40FA-97B8-DA973B12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886968"/>
            <a:ext cx="365760" cy="22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54DC337-BB57-4F2D-BA69-F6053209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909828"/>
            <a:ext cx="365760" cy="4160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EAA7632-1BD9-4E93-85C6-4E56DB1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886968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C8EEFC7-B061-4DC7-9FBE-A221FDA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325880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08FCC30-3242-4098-A99E-E2DBBC0C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96012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8D2E6FB-4863-4299-B4A3-0F325084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886968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BEC6EBE-95E6-4080-8423-28C4ACC4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886968"/>
            <a:ext cx="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7CC4A98-B2A5-432A-BA3C-DD1E3185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325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F65E5E2-8C92-496F-9F15-D4864819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1161288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CA6247D-7ED4-469C-95AD-638439DA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444752"/>
            <a:ext cx="10515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Intra-Chain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(independent params)</a:t>
            </a:r>
            <a:endParaRPr sz="6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584A221-EABE-43A5-B962-99B88B8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1161288"/>
            <a:ext cx="0" cy="192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FB8B1AE-19EA-406A-9E50-D47029E5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266569F-5AB5-4D56-ACA7-EBE9E55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0FD3542-B0AA-446C-B5BE-A99C1D57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3DADAC1-CD7C-458A-BDAE-2FAEB68B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F121C31-B26F-46DF-BECC-1985B3CB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17B7B5D-9D84-4CE0-93F7-F90EBE44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92FEBD4-2D2A-47D2-802D-3666CD91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F8ED955-A349-40ED-8FF6-96C0C05F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A43FCC07-3943-4B0A-B3EF-3ABE6A9D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86868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30">
                <a:solidFill>
                  <a:srgbClr val="111111"/>
                </a:solidFill>
                <a:latin typeface="Arial"/>
                <a:ea typeface="Arial"/>
                <a:cs typeface="Arial"/>
              </a:rPr>
              <a:t>H^Ab ∈ R^(L_ab × d)</a:t>
            </a:r>
            <a:endParaRPr sz="53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05690A9-6AA0-4C4F-AD43-BCF22B60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618488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11CE523-4BB7-4779-9192-B224381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1097280"/>
            <a:ext cx="0" cy="5212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1B119CB-E809-4DD3-9001-6302D12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606040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ESM-2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(650M)</a:t>
            </a:r>
            <a:endParaRPr sz="6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7421FA7-A4B3-47FE-AED7-EC5FAF71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3081528"/>
            <a:ext cx="713232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OpenDDE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(sequence → frames)</a:t>
            </a:r>
            <a:endParaRPr sz="5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7213FF5A-5A38-4ECD-8FED-B35C8ED8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606040"/>
            <a:ext cx="107899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Projection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 → d_model (128)</a:t>
            </a:r>
            <a:endParaRPr sz="6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2F5AA9A-D7A7-4D4B-AB5A-3B2B412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081528"/>
            <a:ext cx="77724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Frame/Geom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Features</a:t>
            </a:r>
            <a:endParaRPr sz="55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F200939-C7FA-4A60-B5A1-2E03A16F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38628"/>
            <a:ext cx="365760" cy="77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B0740CE1-D5AA-4FE7-97C1-F12BE315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38628"/>
            <a:ext cx="365760" cy="516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08B0808-29EF-4F50-9E30-E28D53BA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816352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5511E43-B54B-4F2A-87AB-3AB9EBB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3255264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E42BAE0C-8233-4D86-95F3-46D0F0ED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8950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68F01B9F-9E08-4CC6-BCB5-7A33A423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16352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B1D042D-D141-4607-8E29-AE9A64B3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2816352"/>
            <a:ext cx="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E0D34905-F503-453A-8547-9EF8492A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25526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C7056688-1D27-4CE1-84A7-59325694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3090672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7110DF62-6F77-45FF-BDF8-AF533820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264408"/>
            <a:ext cx="10515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Intra-Chain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(independent params)</a:t>
            </a:r>
            <a:endParaRPr sz="60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7B0B1717-8E10-455E-AF79-0F080DD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3090672"/>
            <a:ext cx="0" cy="173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1481BDE6-42E6-4C89-B972-652B29BC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60326540-B0E9-4E40-ABDB-807659F6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1F321A01-5F74-4E76-BEF9-FE20D2E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5D27B727-A90E-45A1-8034-F53AEE6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18377D01-498E-494C-88F1-8ACC5A59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115A3F0A-244C-4244-B896-3BBAA8AC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C1847C71-98FB-45AB-B1F4-4E5842B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43CB3205-558B-4FC4-9F4A-5A0BCF5F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1BC993A6-A66B-42A0-9E83-83C8A3D2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98064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30">
                <a:solidFill>
                  <a:srgbClr val="111111"/>
                </a:solidFill>
                <a:latin typeface="Arial"/>
                <a:ea typeface="Arial"/>
                <a:cs typeface="Arial"/>
              </a:rPr>
              <a:t>H^Ag ∈ R^(L_ag × d)</a:t>
            </a:r>
            <a:endParaRPr sz="530"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407D85D1-7C40-418C-BA16-6494D19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529584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F732311-6723-4F82-90AA-616AE92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026664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4CE81C15-4C40-4584-B0C4-FA3DD23A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17904"/>
            <a:ext cx="868680" cy="1207008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EFFC"/>
          </a:solidFill>
          <a:ln xmlns:a="http://schemas.openxmlformats.org/drawingml/2006/main" w="10160">
            <a:solidFill>
              <a:srgbClr val="7B56B3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Interleaved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Bidirectional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(× L layers)</a:t>
            </a:r>
            <a:endParaRPr sz="640"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23FA4642-19A0-4C52-B97E-59FB04FB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097280"/>
            <a:ext cx="45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914F649E-1656-4CDE-997B-07CC7F51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097280"/>
            <a:ext cx="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BDCD825A-A5C0-471D-83E1-343ACDB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26664"/>
            <a:ext cx="45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D5399299-3CF8-41D5-8F6A-534F44B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31720"/>
            <a:ext cx="0" cy="6949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2691CBC4-79B9-47AF-B98F-7A66096D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D59B0775-CE1E-4A75-9A50-B0F38249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663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08F7D397-82B1-4385-89B5-B08FF980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3CDA7D02-C874-4378-B890-099E34E6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45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B8995076-C247-42A7-9CC7-0BA25442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996D3CD6-9176-495C-8756-F55399FD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8D3775BB-D88C-4C6D-A5EF-0C2F6C72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139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964E65EC-DFC2-444F-8CDA-67CC0E0F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03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72A45F2D-A128-4137-85F3-53FC1C3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2A12B82-2CBC-47FD-93EA-43EE647B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663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2A42DC22-61F9-4FC4-8B83-7645744F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BC78F245-5D47-41AE-AC36-699AF34B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45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48CCE5AE-8B5A-4C58-A14A-5BE9B112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87070191-2964-428A-B43D-0C3269B4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228BE1A4-EFF9-4470-96AA-2A906789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139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FEE92BEB-E87D-4C89-B9DC-81E9B888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03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4AB10FE7-0F0A-4A12-A824-3058A77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527" y="484505"/>
            <a:ext cx="9144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10">
                <a:solidFill>
                  <a:srgbClr val="111111"/>
                </a:solidFill>
                <a:latin typeface="Arial"/>
                <a:ea typeface="Arial"/>
                <a:cs typeface="Arial"/>
              </a:rPr>
              <a:t>Ĥ^Ab ∈ R^(L_ab × d)</a:t>
            </a:r>
            <a:endParaRPr sz="510"/>
          </a:p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17AAFDFE-64B0-43CD-BBA3-B906E30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3172968"/>
            <a:ext cx="9144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10">
                <a:solidFill>
                  <a:srgbClr val="111111"/>
                </a:solidFill>
                <a:latin typeface="Arial"/>
                <a:ea typeface="Arial"/>
                <a:cs typeface="Arial"/>
              </a:rPr>
              <a:t>Ĥ^Ag ∈ R^(L_ag × d)</a:t>
            </a:r>
            <a:endParaRPr sz="510"/>
          </a:p>
        </p:txBody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188F34B2-FABB-4440-B9E9-5A41421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325880"/>
            <a:ext cx="155448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E5C30702-1CCC-4B3B-99AA-E05E1E04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331720"/>
            <a:ext cx="155448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18F486CD-F4AF-424D-8BA9-3E205C3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822192"/>
            <a:ext cx="6510528" cy="237744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C1CC"/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59A8551A-7B3F-44B5-A46E-CF2E791C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97" name="Text 95">
            <a:extLst xmlns:a="http://schemas.openxmlformats.org/drawingml/2006/main">
              <a:ext uri="{FF2B5EF4-FFF2-40B4-BE49-F238E27FC236}">
                <a16:creationId xmlns:a16="http://schemas.microsoft.com/office/drawing/2014/main" id="{430558B1-F37C-40AF-B490-791CCB50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Ab pathway</a:t>
            </a:r>
            <a:endParaRPr sz="550"/>
          </a:p>
        </p:txBody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C92BA805-CD37-4F18-A35B-46ED3D4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E7816A95-FC54-4B38-8AC4-E038F513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Ag pathway</a:t>
            </a:r>
            <a:endParaRPr sz="550"/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792FCE31-0A45-4C9E-B82D-48E5450F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C"/>
          </a:solidFill>
          <a:ln xmlns:a="http://schemas.openxmlformats.org/drawingml/2006/main" w="6350">
            <a:solidFill>
              <a:srgbClr val="7B56B3"/>
            </a:solidFill>
            <a:prstDash val="solid"/>
          </a:ln>
        </p:spPr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ED94670E-CE55-419B-9678-25354E4C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/ interaction</a:t>
            </a:r>
            <a:endParaRPr sz="550"/>
          </a:p>
        </p:txBody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BBEC3953-6115-4741-9933-5AB99F4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6350">
            <a:solidFill>
              <a:srgbClr val="C99A2E"/>
            </a:solidFill>
            <a:prstDash val="solid"/>
          </a:ln>
        </p:spPr>
      </p:sp>
      <p:sp>
        <p:nvSpPr>
          <p:cNvPr id="103" name="Text 101">
            <a:extLst xmlns:a="http://schemas.openxmlformats.org/drawingml/2006/main">
              <a:ext uri="{FF2B5EF4-FFF2-40B4-BE49-F238E27FC236}">
                <a16:creationId xmlns:a16="http://schemas.microsoft.com/office/drawing/2014/main" id="{A1583274-AB2C-4A39-A6D5-E6934D56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</a:t>
            </a:r>
            <a:endParaRPr sz="550"/>
          </a:p>
        </p:txBody>
      </p:sp>
      <p:sp>
        <p:nvSpPr>
          <p:cNvPr id="104" name="Text 102">
            <a:extLst xmlns:a="http://schemas.openxmlformats.org/drawingml/2006/main">
              <a:ext uri="{FF2B5EF4-FFF2-40B4-BE49-F238E27FC236}">
                <a16:creationId xmlns:a16="http://schemas.microsoft.com/office/drawing/2014/main" id="{D78E100D-F789-436A-889B-35C1D508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85876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700"/>
          </a:p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C80FF800-C821-47A8-9967-4157FDB1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3877056"/>
            <a:ext cx="292608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Concat</a:t>
            </a:r>
            <a:endParaRPr sz="520"/>
          </a:p>
        </p:txBody>
      </p:sp>
      <p:sp>
        <p:nvSpPr>
          <p:cNvPr id="106" name="Text 104">
            <a:extLst xmlns:a="http://schemas.openxmlformats.org/drawingml/2006/main">
              <a:ext uri="{FF2B5EF4-FFF2-40B4-BE49-F238E27FC236}">
                <a16:creationId xmlns:a16="http://schemas.microsoft.com/office/drawing/2014/main" id="{8C146EDB-8883-4938-8800-157E2FD6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876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700"/>
          </a:p>
        </p:txBody>
      </p:sp>
      <p:sp>
        <p:nvSpPr>
          <p:cNvPr id="107" name="Text 105">
            <a:extLst xmlns:a="http://schemas.openxmlformats.org/drawingml/2006/main">
              <a:ext uri="{FF2B5EF4-FFF2-40B4-BE49-F238E27FC236}">
                <a16:creationId xmlns:a16="http://schemas.microsoft.com/office/drawing/2014/main" id="{A84A759D-D7A1-4DA9-B3FD-1E95104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877056"/>
            <a:ext cx="54864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Gated residual</a:t>
            </a:r>
            <a:endParaRPr sz="520"/>
          </a:p>
        </p:txBody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F694571B-F03A-4C02-A801-AB6C1812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931920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09" name="Text 107">
            <a:extLst xmlns:a="http://schemas.openxmlformats.org/drawingml/2006/main">
              <a:ext uri="{FF2B5EF4-FFF2-40B4-BE49-F238E27FC236}">
                <a16:creationId xmlns:a16="http://schemas.microsoft.com/office/drawing/2014/main" id="{D0A9B85A-2C5F-4896-B193-48502F32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886200"/>
            <a:ext cx="384048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flow</a:t>
            </a:r>
            <a:endParaRPr sz="520"/>
          </a:p>
        </p:txBody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E66137B6-34A4-4D72-BC23-E6492BBC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9319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1" name="Text 109">
            <a:extLst xmlns:a="http://schemas.openxmlformats.org/drawingml/2006/main">
              <a:ext uri="{FF2B5EF4-FFF2-40B4-BE49-F238E27FC236}">
                <a16:creationId xmlns:a16="http://schemas.microsoft.com/office/drawing/2014/main" id="{970A4A1E-0DA8-4305-BD1A-9E82337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86200"/>
            <a:ext cx="50292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Auxiliary / supervision only</a:t>
            </a:r>
            <a:endParaRPr sz="520"/>
          </a:p>
        </p:txBody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E475CDB3-AE9A-4DAC-B863-2481630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576072"/>
            <a:ext cx="1389888" cy="3310128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B56B3"/>
            </a:solidFill>
            <a:prstDash val="solid"/>
          </a:ln>
        </p:spPr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0BEE5760-6D6D-4FCC-996C-9C3F9D97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749808"/>
            <a:ext cx="47548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 b="1">
                <a:solidFill>
                  <a:srgbClr val="7B56B3"/>
                </a:solidFill>
                <a:latin typeface="Arial"/>
                <a:ea typeface="Arial"/>
                <a:cs typeface="Arial"/>
              </a:rPr>
              <a:t>Layer ℓ</a:t>
            </a:r>
            <a:endParaRPr sz="620"/>
          </a:p>
        </p:txBody>
      </p:sp>
      <p:sp>
        <p:nvSpPr>
          <p:cNvPr id="114" name="Text 112">
            <a:extLst xmlns:a="http://schemas.openxmlformats.org/drawingml/2006/main">
              <a:ext uri="{FF2B5EF4-FFF2-40B4-BE49-F238E27FC236}">
                <a16:creationId xmlns:a16="http://schemas.microsoft.com/office/drawing/2014/main" id="{4A3054D9-0C30-4875-8DC4-F6829DF9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749808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7B56B3"/>
                </a:solidFill>
                <a:latin typeface="Arial"/>
                <a:ea typeface="Arial"/>
                <a:cs typeface="Arial"/>
              </a:rPr>
              <a:t>⋮</a:t>
            </a:r>
            <a:endParaRPr sz="900"/>
          </a:p>
        </p:txBody>
      </p:sp>
      <p:sp>
        <p:nvSpPr>
          <p:cNvPr id="115" name="Text 113">
            <a:extLst xmlns:a="http://schemas.openxmlformats.org/drawingml/2006/main">
              <a:ext uri="{FF2B5EF4-FFF2-40B4-BE49-F238E27FC236}">
                <a16:creationId xmlns:a16="http://schemas.microsoft.com/office/drawing/2014/main" id="{B0E509ED-50C3-4CCB-A914-9908ACED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051560"/>
            <a:ext cx="877824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Encoder Block</a:t>
            </a:r>
            <a:endParaRPr sz="580"/>
          </a:p>
        </p:txBody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81592CE1-CFD9-47B9-A63D-F0CB77D4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932688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C7A36637-2F6F-4295-86FF-15640E95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591056"/>
            <a:ext cx="987552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← Ag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(content-only)</a:t>
            </a:r>
            <a:endParaRPr sz="550"/>
          </a:p>
        </p:txBody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6B66AE94-251C-44D8-A755-BF46E20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435608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9" name="Text 117">
            <a:extLst xmlns:a="http://schemas.openxmlformats.org/drawingml/2006/main">
              <a:ext uri="{FF2B5EF4-FFF2-40B4-BE49-F238E27FC236}">
                <a16:creationId xmlns:a16="http://schemas.microsoft.com/office/drawing/2014/main" id="{891E2057-6910-4EF5-9912-DA573AB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249424"/>
            <a:ext cx="877824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Encoder Block</a:t>
            </a:r>
            <a:endParaRPr sz="580"/>
          </a:p>
        </p:txBody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A659FDF3-0E18-41F7-9183-DE1AA77E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48256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21" name="Text 119">
            <a:extLst xmlns:a="http://schemas.openxmlformats.org/drawingml/2006/main">
              <a:ext uri="{FF2B5EF4-FFF2-40B4-BE49-F238E27FC236}">
                <a16:creationId xmlns:a16="http://schemas.microsoft.com/office/drawing/2014/main" id="{EAE0C17C-7638-4784-BCC3-D009A24D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2788920"/>
            <a:ext cx="987552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← Ab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(content-only)</a:t>
            </a:r>
            <a:endParaRPr sz="550"/>
          </a:p>
        </p:txBody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0E022AD5-73F5-4C3E-B143-3E532581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633472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23" name="Text 121">
            <a:extLst xmlns:a="http://schemas.openxmlformats.org/drawingml/2006/main">
              <a:ext uri="{FF2B5EF4-FFF2-40B4-BE49-F238E27FC236}">
                <a16:creationId xmlns:a16="http://schemas.microsoft.com/office/drawing/2014/main" id="{F96B6A8E-E13F-4367-A095-C66E6C59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273552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7B56B3"/>
                </a:solidFill>
                <a:latin typeface="Arial"/>
                <a:ea typeface="Arial"/>
                <a:cs typeface="Arial"/>
              </a:rPr>
              <a:t>⋮</a:t>
            </a:r>
            <a:endParaRPr sz="900"/>
          </a:p>
        </p:txBody>
      </p:sp>
      <p:sp>
        <p:nvSpPr>
          <p:cNvPr id="124" name="Text 122">
            <a:extLst xmlns:a="http://schemas.openxmlformats.org/drawingml/2006/main">
              <a:ext uri="{FF2B5EF4-FFF2-40B4-BE49-F238E27FC236}">
                <a16:creationId xmlns:a16="http://schemas.microsoft.com/office/drawing/2014/main" id="{1822B9B1-AD7D-417A-AB80-5F406C6D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371246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 b="1">
                <a:solidFill>
                  <a:srgbClr val="7B56B3"/>
                </a:solidFill>
                <a:latin typeface="Arial"/>
                <a:ea typeface="Arial"/>
                <a:cs typeface="Arial"/>
              </a:rPr>
              <a:t>Layer 1</a:t>
            </a:r>
            <a:endParaRPr sz="620"/>
          </a:p>
        </p:txBody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14443D11-80A4-41AC-B89F-88F15E4E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033272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none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7B1D5B4D-7B70-423F-BF0C-C15D093A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033272"/>
            <a:ext cx="0" cy="2240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none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A8925D73-AEC8-4D4E-A8C0-023EDF7D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273552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triangle"/>
          </a:ln>
        </p:spPr>
      </p:sp>
      <p:sp>
        <p:nvSpPr>
          <p:cNvPr id="128" name="Text 126">
            <a:extLst xmlns:a="http://schemas.openxmlformats.org/drawingml/2006/main">
              <a:ext uri="{FF2B5EF4-FFF2-40B4-BE49-F238E27FC236}">
                <a16:creationId xmlns:a16="http://schemas.microsoft.com/office/drawing/2014/main" id="{5C70A96C-FE8F-451A-BA4F-901E5F6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11480"/>
            <a:ext cx="2148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Input:  Ĥ^Ab ∈ R^(L_ab × d)    Ĥ^Ag ∈ R^(L_ag × d)</a:t>
            </a:r>
            <a:endParaRPr sz="620"/>
          </a:p>
        </p:txBody>
      </p:sp>
      <p:sp>
        <p:nvSpPr>
          <p:cNvPr id="129" name="Text 127">
            <a:extLst xmlns:a="http://schemas.openxmlformats.org/drawingml/2006/main">
              <a:ext uri="{FF2B5EF4-FFF2-40B4-BE49-F238E27FC236}">
                <a16:creationId xmlns:a16="http://schemas.microsoft.com/office/drawing/2014/main" id="{70257294-8002-4A8D-AB12-16F87938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768096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Ab residue i</a:t>
            </a:r>
            <a:endParaRPr sz="580"/>
          </a:p>
        </p:txBody>
      </p:sp>
      <p:sp>
        <p:nvSpPr>
          <p:cNvPr id="130" name="Text 128">
            <a:extLst xmlns:a="http://schemas.openxmlformats.org/drawingml/2006/main">
              <a:ext uri="{FF2B5EF4-FFF2-40B4-BE49-F238E27FC236}">
                <a16:creationId xmlns:a16="http://schemas.microsoft.com/office/drawing/2014/main" id="{A343AE4E-1D09-4656-AF31-E25FB25E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640080"/>
            <a:ext cx="40233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h_i^Ab</a:t>
            </a:r>
            <a:endParaRPr sz="600"/>
          </a:p>
        </p:txBody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B7D5FFB1-095A-4185-947D-FB4A851D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FB967378-DB7D-4223-A31C-FC7ABFD3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494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CE5889E2-BBEE-4249-84EF-A2801598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989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8791DB26-FC44-42DE-9EED-368C5C9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483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E24C9C26-47C6-4221-8F1A-D64597A4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978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6" name="Text 134">
            <a:extLst xmlns:a="http://schemas.openxmlformats.org/drawingml/2006/main">
              <a:ext uri="{FF2B5EF4-FFF2-40B4-BE49-F238E27FC236}">
                <a16:creationId xmlns:a16="http://schemas.microsoft.com/office/drawing/2014/main" id="{F8A7FFD5-339C-4394-866C-2476E64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768096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Ag residue j</a:t>
            </a:r>
            <a:endParaRPr sz="580"/>
          </a:p>
        </p:txBody>
      </p:sp>
      <p:sp>
        <p:nvSpPr>
          <p:cNvPr id="137" name="Text 135">
            <a:extLst xmlns:a="http://schemas.openxmlformats.org/drawingml/2006/main">
              <a:ext uri="{FF2B5EF4-FFF2-40B4-BE49-F238E27FC236}">
                <a16:creationId xmlns:a16="http://schemas.microsoft.com/office/drawing/2014/main" id="{3CF05FAD-D843-499E-A6A8-7C2CD734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640080"/>
            <a:ext cx="40233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h_j^Ag</a:t>
            </a:r>
            <a:endParaRPr sz="600"/>
          </a:p>
        </p:txBody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859E8440-EE67-449D-94FE-EA50EF75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20019E2E-F07F-404B-B6E9-D76DB788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686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99C063EF-F90A-42F1-A386-C8B20E0D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181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30481836-A703-46C9-A7F0-AFE834E2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675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BD8F5404-2596-4A4F-AF41-8056D10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170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3" name="Text 141">
            <a:extLst xmlns:a="http://schemas.openxmlformats.org/drawingml/2006/main">
              <a:ext uri="{FF2B5EF4-FFF2-40B4-BE49-F238E27FC236}">
                <a16:creationId xmlns:a16="http://schemas.microsoft.com/office/drawing/2014/main" id="{CF503E20-1111-4CAC-B302-CED6564B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q_i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(d_p)</a:t>
            </a:r>
            <a:endParaRPr sz="580"/>
          </a:p>
        </p:txBody>
      </p:sp>
      <p:sp>
        <p:nvSpPr>
          <p:cNvPr id="144" name="Text 142">
            <a:extLst xmlns:a="http://schemas.openxmlformats.org/drawingml/2006/main">
              <a:ext uri="{FF2B5EF4-FFF2-40B4-BE49-F238E27FC236}">
                <a16:creationId xmlns:a16="http://schemas.microsoft.com/office/drawing/2014/main" id="{2AEB206B-9BC9-4926-9992-915C275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u_i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80"/>
          </a:p>
        </p:txBody>
      </p:sp>
      <p:sp>
        <p:nvSpPr>
          <p:cNvPr id="145" name="Text 143">
            <a:extLst xmlns:a="http://schemas.openxmlformats.org/drawingml/2006/main">
              <a:ext uri="{FF2B5EF4-FFF2-40B4-BE49-F238E27FC236}">
                <a16:creationId xmlns:a16="http://schemas.microsoft.com/office/drawing/2014/main" id="{697FE9EF-0EEB-4DB2-915B-4E1B4AD9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k_j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(d_p)</a:t>
            </a:r>
            <a:endParaRPr sz="580"/>
          </a:p>
        </p:txBody>
      </p:sp>
      <p:sp>
        <p:nvSpPr>
          <p:cNvPr id="146" name="Text 144">
            <a:extLst xmlns:a="http://schemas.openxmlformats.org/drawingml/2006/main">
              <a:ext uri="{FF2B5EF4-FFF2-40B4-BE49-F238E27FC236}">
                <a16:creationId xmlns:a16="http://schemas.microsoft.com/office/drawing/2014/main" id="{AF45E162-1713-4E9C-90B6-55E450C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v_j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80"/>
          </a:p>
        </p:txBody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A81EBBF1-6C2F-4094-8307-3C219E6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905256"/>
            <a:ext cx="18288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BC68CAFC-0C51-4B75-8035-5FD15E04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905256"/>
            <a:ext cx="274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3D48CDA2-94A0-4A12-9A6F-A70E2491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08" y="905256"/>
            <a:ext cx="2560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12AD8F55-337D-421C-B942-C308CB9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32" y="905256"/>
            <a:ext cx="274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1" name="Text 149">
            <a:extLst xmlns:a="http://schemas.openxmlformats.org/drawingml/2006/main">
              <a:ext uri="{FF2B5EF4-FFF2-40B4-BE49-F238E27FC236}">
                <a16:creationId xmlns:a16="http://schemas.microsoft.com/office/drawing/2014/main" id="{09AD65C9-3104-4EF6-89B5-534B587A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155448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800"/>
          </a:p>
        </p:txBody>
      </p:sp>
      <p:sp>
        <p:nvSpPr>
          <p:cNvPr id="152" name="Text 150">
            <a:extLst xmlns:a="http://schemas.openxmlformats.org/drawingml/2006/main">
              <a:ext uri="{FF2B5EF4-FFF2-40B4-BE49-F238E27FC236}">
                <a16:creationId xmlns:a16="http://schemas.microsoft.com/office/drawing/2014/main" id="{03538747-6A1B-40A0-A255-29FDF838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1627632"/>
            <a:ext cx="3108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/√d_p</a:t>
            </a:r>
            <a:endParaRPr sz="550"/>
          </a:p>
        </p:txBody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6B462EF5-1D4B-4CA3-9FD8-E1032AC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408176"/>
            <a:ext cx="621792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28CCF96A-AC4A-4905-9BCC-5170ABFC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408176"/>
            <a:ext cx="530352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5" name="Text 153">
            <a:extLst xmlns:a="http://schemas.openxmlformats.org/drawingml/2006/main">
              <a:ext uri="{FF2B5EF4-FFF2-40B4-BE49-F238E27FC236}">
                <a16:creationId xmlns:a16="http://schemas.microsoft.com/office/drawing/2014/main" id="{6C2CA4E1-BFD9-4F0D-8DDF-057F871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6" name="Text 154">
            <a:extLst xmlns:a="http://schemas.openxmlformats.org/drawingml/2006/main">
              <a:ext uri="{FF2B5EF4-FFF2-40B4-BE49-F238E27FC236}">
                <a16:creationId xmlns:a16="http://schemas.microsoft.com/office/drawing/2014/main" id="{7EDE17BD-3387-424A-B9AC-DD7301AF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7" name="Text 155">
            <a:extLst xmlns:a="http://schemas.openxmlformats.org/drawingml/2006/main">
              <a:ext uri="{FF2B5EF4-FFF2-40B4-BE49-F238E27FC236}">
                <a16:creationId xmlns:a16="http://schemas.microsoft.com/office/drawing/2014/main" id="{CB093117-2EB2-45E1-ABC8-89818B9A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F976A8AF-2F8E-47FA-AFCC-49F2553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1719072"/>
            <a:ext cx="41148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44F3EAC1-DFC8-40B6-86BF-FADB2D27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F96B4A6D-0B79-4E22-A236-A66235C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08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3D7DB1A2-74B2-458A-8269-BB55E739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BAACFAA8-B347-441C-8C6A-99B61547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75104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D5018A83-E068-4A36-9A25-3FF24664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975104"/>
            <a:ext cx="6675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4" name="Text 162">
            <a:extLst xmlns:a="http://schemas.openxmlformats.org/drawingml/2006/main">
              <a:ext uri="{FF2B5EF4-FFF2-40B4-BE49-F238E27FC236}">
                <a16:creationId xmlns:a16="http://schemas.microsoft.com/office/drawing/2014/main" id="{1B0F4608-B72E-47BD-AD8F-740191E2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240280"/>
            <a:ext cx="219456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50"/>
          </a:p>
        </p:txBody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44468BB3-E9DC-48EA-966B-6DC6402C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05740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6" name="Text 164">
            <a:extLst xmlns:a="http://schemas.openxmlformats.org/drawingml/2006/main">
              <a:ext uri="{FF2B5EF4-FFF2-40B4-BE49-F238E27FC236}">
                <a16:creationId xmlns:a16="http://schemas.microsoft.com/office/drawing/2014/main" id="{6DEF0005-8FE7-45E4-914A-E8A699B3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395728"/>
            <a:ext cx="713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φ(h_i^Ab, h_j^Ag)</a:t>
            </a:r>
            <a:endParaRPr sz="560"/>
          </a:p>
        </p:txBody>
      </p:sp>
      <p:sp>
        <p:nvSpPr>
          <p:cNvPr id="167" name="Text 165">
            <a:extLst xmlns:a="http://schemas.openxmlformats.org/drawingml/2006/main">
              <a:ext uri="{FF2B5EF4-FFF2-40B4-BE49-F238E27FC236}">
                <a16:creationId xmlns:a16="http://schemas.microsoft.com/office/drawing/2014/main" id="{132F3850-DE44-49F0-A727-787DF99B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96" y="2395728"/>
            <a:ext cx="713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φ(h_j^Ag, h_i^Ab)</a:t>
            </a:r>
            <a:endParaRPr sz="560"/>
          </a:p>
        </p:txBody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D3F60249-2E61-4B90-87C0-1A10E05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5740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14FA7EC3-9092-46B9-A2CA-D1D7D42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65176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5AAC957C-5E2E-4F5E-9BDB-378DA3A1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205740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CA42ABA3-585B-4860-A025-A24D374D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2" y="265176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2" name="Text 170">
            <a:extLst xmlns:a="http://schemas.openxmlformats.org/drawingml/2006/main">
              <a:ext uri="{FF2B5EF4-FFF2-40B4-BE49-F238E27FC236}">
                <a16:creationId xmlns:a16="http://schemas.microsoft.com/office/drawing/2014/main" id="{E21CE445-1EB5-4DE4-A263-18A29F6B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889504"/>
            <a:ext cx="932688" cy="2286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Average (symmetry)</a:t>
            </a:r>
            <a:endParaRPr sz="580"/>
          </a:p>
        </p:txBody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04DC10D0-52D6-426C-BC8E-0EFD9E73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651760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C5D9B73D-80F5-446C-A7A2-AA85F825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99923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5" name="Text 173">
            <a:extLst xmlns:a="http://schemas.openxmlformats.org/drawingml/2006/main">
              <a:ext uri="{FF2B5EF4-FFF2-40B4-BE49-F238E27FC236}">
                <a16:creationId xmlns:a16="http://schemas.microsoft.com/office/drawing/2014/main" id="{60B8A6AB-FF0B-46E3-8869-A5BC2AC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218688"/>
            <a:ext cx="5943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z_ij (logit)</a:t>
            </a:r>
            <a:endParaRPr sz="550"/>
          </a:p>
        </p:txBody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259AA9F0-E25C-4641-9E8D-93816AA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108960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7" name="Text 175">
            <a:extLst xmlns:a="http://schemas.openxmlformats.org/drawingml/2006/main">
              <a:ext uri="{FF2B5EF4-FFF2-40B4-BE49-F238E27FC236}">
                <a16:creationId xmlns:a16="http://schemas.microsoft.com/office/drawing/2014/main" id="{AF32745F-1AB2-421B-B133-2951C389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3429000"/>
            <a:ext cx="731520" cy="21945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Sigmoid</a:t>
            </a:r>
            <a:endParaRPr sz="580"/>
          </a:p>
        </p:txBody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B2320163-ADA0-4947-9435-163BE13E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10128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9" name="Text 177">
            <a:extLst xmlns:a="http://schemas.openxmlformats.org/drawingml/2006/main">
              <a:ext uri="{FF2B5EF4-FFF2-40B4-BE49-F238E27FC236}">
                <a16:creationId xmlns:a16="http://schemas.microsoft.com/office/drawing/2014/main" id="{D661E060-1340-4CAF-B857-1B79A4C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703320"/>
            <a:ext cx="7772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p_ij (contact prob.)</a:t>
            </a:r>
            <a:endParaRPr sz="540"/>
          </a:p>
        </p:txBody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ED73BBDD-4BCD-46B1-B048-F6A6E0E3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648456"/>
            <a:ext cx="0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81" name="Text 179">
            <a:extLst xmlns:a="http://schemas.openxmlformats.org/drawingml/2006/main">
              <a:ext uri="{FF2B5EF4-FFF2-40B4-BE49-F238E27FC236}">
                <a16:creationId xmlns:a16="http://schemas.microsoft.com/office/drawing/2014/main" id="{7BBD2B89-D54B-4250-A033-3428620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14" y="3931793"/>
            <a:ext cx="14630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Low-rank dims:  d_p = 128;     d = 128</a:t>
            </a:r>
            <a:endParaRPr sz="520"/>
          </a:p>
        </p:txBody>
      </p:sp>
      <p:sp>
        <p:nvSpPr>
          <p:cNvPr id="182" name="Text 180">
            <a:extLst xmlns:a="http://schemas.openxmlformats.org/drawingml/2006/main">
              <a:ext uri="{FF2B5EF4-FFF2-40B4-BE49-F238E27FC236}">
                <a16:creationId xmlns:a16="http://schemas.microsoft.com/office/drawing/2014/main" id="{3AECBE39-9C55-4B57-BBF6-E1431909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583" y="2962656"/>
            <a:ext cx="1051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Pairwise Contact Map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 ∈ [0,1]^(L_ab × L_ag)</a:t>
            </a:r>
            <a:endParaRPr sz="600"/>
          </a:p>
        </p:txBody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DB06E77C-BE1D-480E-ADFD-C073DE33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E6C8AA13-D84F-4A08-A7D7-B02C6CB3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1C0E2ACC-31A2-4349-B9A2-A7EDDC38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4FECF46E-D256-4816-9848-7C58B0D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889533AE-049B-418B-BE36-C28E080F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494F5A92-E1CB-4CEE-BF6F-8CCC8B28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F4BB3F4E-2864-4744-A01F-C9D1A87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D24003E0-C0CE-4507-AE6D-1331D81A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3602821D-E801-439B-B079-9AA392C9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14F5CCD1-BB48-48AB-8505-DF1764E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AF8E0B55-B5D0-47AA-95B8-67CBB9B0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C9E24360-58BC-4EA0-BE2F-3CBCC295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DE1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56D1E2C2-029C-499E-9E03-D322ACF6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364FC9BC-26D0-4B97-B4CC-D8EC949C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B07B19C0-BA23-4886-B978-74DE06A6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474529A4-CE51-4087-9ED5-CD57357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8242C7B1-D279-4754-B9A0-AFD92CE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4A9A075D-CC84-4856-B0C4-DB8D632E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DC00B5DD-BC4F-408A-89D6-C7B4C040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642958AF-961B-48A9-AF2F-E27E789E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D09FC894-9605-4DE6-B1B3-B4061294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A9988A58-7A74-400B-B74B-E53BAAD6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5F0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88B94F33-705F-4AFB-903E-DC4C6A4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D567DB9B-752F-4AD4-990D-D6B4EEAB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D18F80BB-611A-4066-91B2-37C14199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C308880A-9A28-42B3-8511-E4607BC9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56F7C41C-3525-4570-9B8B-A82C7B5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6B930A6C-FDFA-48DA-A2A2-5C8B3A8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EBFC7A23-BB06-4282-A07D-900C6B77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0D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A280F8BE-F419-4626-9851-BA1B3047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D40C7037-0595-4630-9B3C-F6B2EFC2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0DFCDBE6-E4C8-4EE2-A9D0-9B3D82B6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7B5FF01D-B788-43B3-A04B-598CE9C4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C909ABB8-C08C-4FEC-A050-B522202D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5AF09DD-502C-4D3A-9A9B-4C3E7341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28608777-5B39-4B43-B03D-09EE48F8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48924BBB-0BAD-4E15-965A-384F810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E9CEB83C-7E9D-4D3A-A51F-E26FBA79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D563AF57-04C4-4839-832F-5AF42DA9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62614B4F-09E6-4365-BFC5-EC57621B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674666CF-D669-49C7-8E50-95FA3909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BC12E1B6-285C-4323-91AC-08BF8CE5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D9E7FD0B-999F-419D-9AEB-1551199D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81CF607E-5D85-400E-837D-09B694C4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E535D5A6-7904-4D93-8DF7-C8D30A0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28F129A4-8EE2-40E1-B485-15DFE09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0360943F-D956-4340-AB6A-869D0EC2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55FFEAF7-5BE8-4A9E-8A02-188779C7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60643792-62B9-4D5C-8652-2F5CD3A2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A28DF48C-CFA3-4CAF-A12A-9F0DEEB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731B83E5-6774-4D75-BB77-4EA0803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51A6FF8A-3DAA-4281-85E3-B9EDCF57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A7C866DC-034A-428C-8D71-8BEFED0F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04B0E5D3-15D9-45C5-A35D-39DCD4E8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5D066278-FFF9-4C90-85F8-43FC5A45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F136BB36-9A8B-494C-AB4C-3AF60D4D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9" name="Text 237">
            <a:extLst xmlns:a="http://schemas.openxmlformats.org/drawingml/2006/main">
              <a:ext uri="{FF2B5EF4-FFF2-40B4-BE49-F238E27FC236}">
                <a16:creationId xmlns:a16="http://schemas.microsoft.com/office/drawing/2014/main" id="{DAEB2C3D-8C7C-4F37-9645-66F01005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063240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residues (j)</a:t>
            </a:r>
            <a:endParaRPr sz="500"/>
          </a:p>
        </p:txBody>
      </p:sp>
      <p:sp>
        <p:nvSpPr>
          <p:cNvPr id="240" name="Text 238">
            <a:extLst xmlns:a="http://schemas.openxmlformats.org/drawingml/2006/main">
              <a:ext uri="{FF2B5EF4-FFF2-40B4-BE49-F238E27FC236}">
                <a16:creationId xmlns:a16="http://schemas.microsoft.com/office/drawing/2014/main" id="{AAE9720B-A0F6-4BAE-9070-FDFB611D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332720" y="3355848"/>
            <a:ext cx="13716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residues (i)</a:t>
            </a:r>
            <a:endParaRPr sz="500"/>
          </a:p>
        </p:txBody>
      </p:sp>
      <p:sp>
        <p:nvSpPr>
          <p:cNvPr id="241" name="Text 239">
            <a:extLst xmlns:a="http://schemas.openxmlformats.org/drawingml/2006/main">
              <a:ext uri="{FF2B5EF4-FFF2-40B4-BE49-F238E27FC236}">
                <a16:creationId xmlns:a16="http://schemas.microsoft.com/office/drawing/2014/main" id="{D829E8F9-4B5E-4F62-B410-EB263949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4882896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hidden states</a:t>
            </a:r>
            <a:endParaRPr sz="570"/>
          </a:p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X ∈ R^(L × d)</a:t>
            </a:r>
            <a:endParaRPr sz="570"/>
          </a:p>
        </p:txBody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209A043D-2894-4C67-85ED-1AB614E9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047488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3" name="Text 241">
            <a:extLst xmlns:a="http://schemas.openxmlformats.org/drawingml/2006/main">
              <a:ext uri="{FF2B5EF4-FFF2-40B4-BE49-F238E27FC236}">
                <a16:creationId xmlns:a16="http://schemas.microsoft.com/office/drawing/2014/main" id="{3E1CB4EB-3F9E-4DC1-811B-50838227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91456"/>
            <a:ext cx="50292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LayerNorm</a:t>
            </a:r>
            <a:endParaRPr sz="570"/>
          </a:p>
        </p:txBody>
      </p:sp>
      <p:sp>
        <p:nvSpPr>
          <p:cNvPr id="244" name="Text 242">
            <a:extLst xmlns:a="http://schemas.openxmlformats.org/drawingml/2006/main">
              <a:ext uri="{FF2B5EF4-FFF2-40B4-BE49-F238E27FC236}">
                <a16:creationId xmlns:a16="http://schemas.microsoft.com/office/drawing/2014/main" id="{BAE795D3-C1F0-4952-A674-2A1A50E5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791456"/>
            <a:ext cx="56692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(d → 4d)</a:t>
            </a:r>
            <a:endParaRPr sz="570"/>
          </a:p>
        </p:txBody>
      </p:sp>
      <p:sp>
        <p:nvSpPr>
          <p:cNvPr id="245" name="Text 243">
            <a:extLst xmlns:a="http://schemas.openxmlformats.org/drawingml/2006/main">
              <a:ext uri="{FF2B5EF4-FFF2-40B4-BE49-F238E27FC236}">
                <a16:creationId xmlns:a16="http://schemas.microsoft.com/office/drawing/2014/main" id="{2518A316-2112-4F8C-B8E9-D20C61E9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791456"/>
            <a:ext cx="4572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GELU</a:t>
            </a:r>
            <a:endParaRPr sz="570"/>
          </a:p>
        </p:txBody>
      </p:sp>
      <p:sp>
        <p:nvSpPr>
          <p:cNvPr id="246" name="Text 244">
            <a:extLst xmlns:a="http://schemas.openxmlformats.org/drawingml/2006/main">
              <a:ext uri="{FF2B5EF4-FFF2-40B4-BE49-F238E27FC236}">
                <a16:creationId xmlns:a16="http://schemas.microsoft.com/office/drawing/2014/main" id="{EB352B0A-2D06-4367-8B53-9367ABC3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791456"/>
            <a:ext cx="56692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(4d → d)</a:t>
            </a:r>
            <a:endParaRPr sz="570"/>
          </a:p>
        </p:txBody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95A273A9-F33C-4959-AFB2-A5F8F763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6048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23798D1F-1838-499C-9FF7-7CE76B32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495604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2525A81F-8D81-43F5-BFAA-539F58A3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495604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0" name="Text 248">
            <a:extLst xmlns:a="http://schemas.openxmlformats.org/drawingml/2006/main">
              <a:ext uri="{FF2B5EF4-FFF2-40B4-BE49-F238E27FC236}">
                <a16:creationId xmlns:a16="http://schemas.microsoft.com/office/drawing/2014/main" id="{930AF407-169F-4412-A608-A2E9B896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358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D0AA4C96-565F-460A-A91C-A2E28418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4956048"/>
            <a:ext cx="731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22B8D8DA-D0B8-4403-884A-14B42D2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4956048"/>
            <a:ext cx="0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9EC053C8-60E7-42F7-9F52-3874A115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358384"/>
            <a:ext cx="365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C61A1811-2958-440D-85AC-7764C9E3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2688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5" name="Text 253">
            <a:extLst xmlns:a="http://schemas.openxmlformats.org/drawingml/2006/main">
              <a:ext uri="{FF2B5EF4-FFF2-40B4-BE49-F238E27FC236}">
                <a16:creationId xmlns:a16="http://schemas.microsoft.com/office/drawing/2014/main" id="{1653FDE8-9ECB-47BD-A93C-30606FB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5650992"/>
            <a:ext cx="105156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frame features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(N/CA/C)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RBF distances,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orientations,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seq. offset, chain id</a:t>
            </a:r>
            <a:endParaRPr sz="540"/>
          </a:p>
        </p:txBody>
      </p:sp>
      <p:sp>
        <p:nvSpPr>
          <p:cNvPr id="256" name="Text 254">
            <a:extLst xmlns:a="http://schemas.openxmlformats.org/drawingml/2006/main">
              <a:ext uri="{FF2B5EF4-FFF2-40B4-BE49-F238E27FC236}">
                <a16:creationId xmlns:a16="http://schemas.microsoft.com/office/drawing/2014/main" id="{35CC252A-1B3E-4AED-B24D-AB5C53F9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742432"/>
            <a:ext cx="54864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(d_g → d)</a:t>
            </a:r>
            <a:endParaRPr sz="560"/>
          </a:p>
        </p:txBody>
      </p:sp>
      <p:sp>
        <p:nvSpPr>
          <p:cNvPr id="257" name="Text 255">
            <a:extLst xmlns:a="http://schemas.openxmlformats.org/drawingml/2006/main">
              <a:ext uri="{FF2B5EF4-FFF2-40B4-BE49-F238E27FC236}">
                <a16:creationId xmlns:a16="http://schemas.microsoft.com/office/drawing/2014/main" id="{BC6CAE25-836F-4505-B474-36DF0AE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742432"/>
            <a:ext cx="4572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GELU</a:t>
            </a:r>
            <a:endParaRPr sz="560"/>
          </a:p>
        </p:txBody>
      </p:sp>
      <p:sp>
        <p:nvSpPr>
          <p:cNvPr id="258" name="Text 256">
            <a:extLst xmlns:a="http://schemas.openxmlformats.org/drawingml/2006/main">
              <a:ext uri="{FF2B5EF4-FFF2-40B4-BE49-F238E27FC236}">
                <a16:creationId xmlns:a16="http://schemas.microsoft.com/office/drawing/2014/main" id="{1A152CC0-62A7-4E49-8E84-B3248F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42432"/>
            <a:ext cx="50292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 → d)</a:t>
            </a:r>
            <a:endParaRPr sz="560"/>
          </a:p>
        </p:txBody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9CCF43E6-086B-4EAE-834A-3DA33CF3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5907024"/>
            <a:ext cx="301752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55CFB573-B889-4FA4-B47D-30FCDC40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5907024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5A309696-5E9E-4056-94DB-36A2C903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907024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2" name="Text 260">
            <a:extLst xmlns:a="http://schemas.openxmlformats.org/drawingml/2006/main">
              <a:ext uri="{FF2B5EF4-FFF2-40B4-BE49-F238E27FC236}">
                <a16:creationId xmlns:a16="http://schemas.microsoft.com/office/drawing/2014/main" id="{BAF14844-C0B8-439D-8345-4EB000E5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74243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0160">
            <a:solidFill>
              <a:srgbClr val="BD5364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263" name="Text 261">
            <a:extLst xmlns:a="http://schemas.openxmlformats.org/drawingml/2006/main">
              <a:ext uri="{FF2B5EF4-FFF2-40B4-BE49-F238E27FC236}">
                <a16:creationId xmlns:a16="http://schemas.microsoft.com/office/drawing/2014/main" id="{F6C99FA0-FC77-4FD8-BE60-7F853798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6163056"/>
            <a:ext cx="292608" cy="38404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6FA"/>
          </a:solidFill>
          <a:ln xmlns:a="http://schemas.openxmlformats.org/drawingml/2006/main" w="10160">
            <a:solidFill>
              <a:srgbClr val="BD5364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  <a:endParaRPr sz="500"/>
          </a:p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(gate)</a:t>
            </a:r>
            <a:endParaRPr sz="500"/>
          </a:p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0-init</a:t>
            </a:r>
            <a:endParaRPr sz="500"/>
          </a:p>
        </p:txBody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9533C243-BCDB-48F0-AEF6-6B86826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5843016"/>
            <a:ext cx="292608" cy="6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A913D244-F6A3-45E6-9043-6FF3BBF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943600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3D465769-4020-4B04-B8DA-F8E5BC51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7424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027CF4EA-4B62-41D4-9040-66433C93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504688"/>
            <a:ext cx="0" cy="237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6B45509-E375-446A-90C8-6F09FCE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5468112"/>
            <a:ext cx="73152" cy="36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9" name="Text 267">
            <a:extLst xmlns:a="http://schemas.openxmlformats.org/drawingml/2006/main">
              <a:ext uri="{FF2B5EF4-FFF2-40B4-BE49-F238E27FC236}">
                <a16:creationId xmlns:a16="http://schemas.microsoft.com/office/drawing/2014/main" id="{CFAEE688-C733-4024-85FE-74970B75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084064"/>
            <a:ext cx="384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</a:t>
            </a:r>
            <a:endParaRPr sz="570"/>
          </a:p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X′ ∈ R^(L × d)</a:t>
            </a:r>
            <a:endParaRPr sz="570"/>
          </a:p>
        </p:txBody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3D167D9C-FFCB-461E-97BC-155954E7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358384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0CF4293C-851C-4C25-AD1D-814B3C41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510528"/>
            <a:ext cx="3429000" cy="18288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C1CC"/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2209895A-2733-422A-8E10-2D1A4D4E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273" name="Text 271">
            <a:extLst xmlns:a="http://schemas.openxmlformats.org/drawingml/2006/main">
              <a:ext uri="{FF2B5EF4-FFF2-40B4-BE49-F238E27FC236}">
                <a16:creationId xmlns:a16="http://schemas.microsoft.com/office/drawing/2014/main" id="{6FA2BD18-911D-4B6B-B969-7B11DC36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Sequence pathway</a:t>
            </a:r>
            <a:endParaRPr sz="550"/>
          </a:p>
        </p:txBody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29B13300-E520-41C6-B88D-802D12F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275" name="Text 273">
            <a:extLst xmlns:a="http://schemas.openxmlformats.org/drawingml/2006/main">
              <a:ext uri="{FF2B5EF4-FFF2-40B4-BE49-F238E27FC236}">
                <a16:creationId xmlns:a16="http://schemas.microsoft.com/office/drawing/2014/main" id="{1F42E3F1-3C5B-42A4-AD22-1EDA53A2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Geometry pathway</a:t>
            </a:r>
            <a:endParaRPr sz="550"/>
          </a:p>
        </p:txBody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99786B13-66CD-44E9-88C1-2500453D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A"/>
          </a:solidFill>
          <a:ln xmlns:a="http://schemas.openxmlformats.org/drawingml/2006/main" w="6350">
            <a:solidFill>
              <a:srgbClr val="BD5364"/>
            </a:solidFill>
            <a:prstDash val="solid"/>
          </a:ln>
        </p:spPr>
      </p:sp>
      <p:sp>
        <p:nvSpPr>
          <p:cNvPr id="277" name="Text 275">
            <a:extLst xmlns:a="http://schemas.openxmlformats.org/drawingml/2006/main">
              <a:ext uri="{FF2B5EF4-FFF2-40B4-BE49-F238E27FC236}">
                <a16:creationId xmlns:a16="http://schemas.microsoft.com/office/drawing/2014/main" id="{2EB377A0-7DD5-4CED-9845-B0718AF3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Zero-init gate</a:t>
            </a:r>
            <a:endParaRPr sz="550"/>
          </a:p>
        </p:txBody>
      </p:sp>
      <p:sp>
        <p:nvSpPr>
          <p:cNvPr id="278" name="Text 276">
            <a:extLst xmlns:a="http://schemas.openxmlformats.org/drawingml/2006/main">
              <a:ext uri="{FF2B5EF4-FFF2-40B4-BE49-F238E27FC236}">
                <a16:creationId xmlns:a16="http://schemas.microsoft.com/office/drawing/2014/main" id="{08CCA992-DA5B-42C2-8244-BD9310DA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4681728"/>
            <a:ext cx="960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Query hidden states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(from target chain)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X^t ∈ R^(L_t × d)</a:t>
            </a:r>
            <a:endParaRPr sz="560"/>
          </a:p>
        </p:txBody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63A8265D-9E39-4A36-9575-831C430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834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91D93148-0206-45AD-94C6-EC4D91A0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977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A5C7428F-1678-429E-8B33-8B9D0F45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2120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BE0D37EF-DBD4-4D88-872E-6152845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3263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F7F91BF3-34FE-4BAB-8DBD-134EB7E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4406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4" name="Text 282">
            <a:extLst xmlns:a="http://schemas.openxmlformats.org/drawingml/2006/main">
              <a:ext uri="{FF2B5EF4-FFF2-40B4-BE49-F238E27FC236}">
                <a16:creationId xmlns:a16="http://schemas.microsoft.com/office/drawing/2014/main" id="{335E4726-E1B2-48A1-9404-70F054AA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961888"/>
            <a:ext cx="960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Key/Value hidden states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(from source chain)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X^s ∈ R^(L_s × d)</a:t>
            </a:r>
            <a:endParaRPr sz="560"/>
          </a:p>
        </p:txBody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8500E9EC-C968-447D-8835-AC4A8B06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6327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06112449-6535-4240-9B98-025839C5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7470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9A8F2ED8-B9DB-4A30-B6E6-76835558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8613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293FC45B-B48E-4BCA-9C26-68004CF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9756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82495018-F53E-4A2A-9A46-F37A070C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60899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90" name="Text 288">
            <a:extLst xmlns:a="http://schemas.openxmlformats.org/drawingml/2006/main">
              <a:ext uri="{FF2B5EF4-FFF2-40B4-BE49-F238E27FC236}">
                <a16:creationId xmlns:a16="http://schemas.microsoft.com/office/drawing/2014/main" id="{EE2D28E3-C427-41FC-B5AA-8ADFAD12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4892040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W_Q</a:t>
            </a:r>
            <a:endParaRPr sz="600"/>
          </a:p>
        </p:txBody>
      </p:sp>
      <p:sp>
        <p:nvSpPr>
          <p:cNvPr id="291" name="Text 289">
            <a:extLst xmlns:a="http://schemas.openxmlformats.org/drawingml/2006/main">
              <a:ext uri="{FF2B5EF4-FFF2-40B4-BE49-F238E27FC236}">
                <a16:creationId xmlns:a16="http://schemas.microsoft.com/office/drawing/2014/main" id="{7FE113D9-3A0A-4FA3-B0AA-EE567ACD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413248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W_K</a:t>
            </a:r>
            <a:endParaRPr sz="600"/>
          </a:p>
        </p:txBody>
      </p:sp>
      <p:sp>
        <p:nvSpPr>
          <p:cNvPr id="292" name="Text 290">
            <a:extLst xmlns:a="http://schemas.openxmlformats.org/drawingml/2006/main">
              <a:ext uri="{FF2B5EF4-FFF2-40B4-BE49-F238E27FC236}">
                <a16:creationId xmlns:a16="http://schemas.microsoft.com/office/drawing/2014/main" id="{460326B5-355D-43F3-AFAD-323BCE2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943600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W_V</a:t>
            </a:r>
            <a:endParaRPr sz="600"/>
          </a:p>
        </p:txBody>
      </p:sp>
      <p:sp>
        <p:nvSpPr>
          <p:cNvPr id="293" name="Text 291">
            <a:extLst xmlns:a="http://schemas.openxmlformats.org/drawingml/2006/main">
              <a:ext uri="{FF2B5EF4-FFF2-40B4-BE49-F238E27FC236}">
                <a16:creationId xmlns:a16="http://schemas.microsoft.com/office/drawing/2014/main" id="{E99FC016-54C2-4315-AEBE-841AE06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892040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Q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(L_t × d_h)</a:t>
            </a:r>
            <a:endParaRPr sz="550"/>
          </a:p>
        </p:txBody>
      </p:sp>
      <p:sp>
        <p:nvSpPr>
          <p:cNvPr id="294" name="Text 292">
            <a:extLst xmlns:a="http://schemas.openxmlformats.org/drawingml/2006/main">
              <a:ext uri="{FF2B5EF4-FFF2-40B4-BE49-F238E27FC236}">
                <a16:creationId xmlns:a16="http://schemas.microsoft.com/office/drawing/2014/main" id="{0D59D546-83FD-4B6D-8D63-242B1F38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5413248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K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(L_s × d_h)</a:t>
            </a:r>
            <a:endParaRPr sz="550"/>
          </a:p>
        </p:txBody>
      </p:sp>
      <p:sp>
        <p:nvSpPr>
          <p:cNvPr id="295" name="Text 293">
            <a:extLst xmlns:a="http://schemas.openxmlformats.org/drawingml/2006/main">
              <a:ext uri="{FF2B5EF4-FFF2-40B4-BE49-F238E27FC236}">
                <a16:creationId xmlns:a16="http://schemas.microsoft.com/office/drawing/2014/main" id="{ABB5E4AB-96A3-4B9C-B84D-8F628AF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5943600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V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(L_s × d_h)</a:t>
            </a:r>
            <a:endParaRPr sz="550"/>
          </a:p>
        </p:txBody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8DD54B62-925E-438E-AD0F-9B31FBD7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47488"/>
            <a:ext cx="45720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A135679A-3BB2-4DBF-BF07-24D1535F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568696"/>
            <a:ext cx="457200" cy="3566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05E5C929-100E-44DD-B1D5-9E10B5F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925312"/>
            <a:ext cx="45720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D713928C-BE2D-4B18-BAAE-7147F553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047488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0E730D71-F5E0-4E7C-9A97-3012D259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568696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7423AE47-ACC8-4016-8620-6648111A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6108192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2" name="Text 300">
            <a:extLst xmlns:a="http://schemas.openxmlformats.org/drawingml/2006/main">
              <a:ext uri="{FF2B5EF4-FFF2-40B4-BE49-F238E27FC236}">
                <a16:creationId xmlns:a16="http://schemas.microsoft.com/office/drawing/2014/main" id="{1599A55F-C204-45FB-9270-F7DC8462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9496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303" name="Text 301">
            <a:extLst xmlns:a="http://schemas.openxmlformats.org/drawingml/2006/main">
              <a:ext uri="{FF2B5EF4-FFF2-40B4-BE49-F238E27FC236}">
                <a16:creationId xmlns:a16="http://schemas.microsoft.com/office/drawing/2014/main" id="{23408020-9B8A-4BC1-8B45-CB500598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513832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/√d_h</a:t>
            </a:r>
            <a:endParaRPr sz="520"/>
          </a:p>
        </p:txBody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92CE22E1-A3BA-46EA-A803-2053EEE7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5047488"/>
            <a:ext cx="237744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2DE5FED7-E210-4E7A-8005-6ADE1E1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5468112"/>
            <a:ext cx="237744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6" name="Text 304">
            <a:extLst xmlns:a="http://schemas.openxmlformats.org/drawingml/2006/main">
              <a:ext uri="{FF2B5EF4-FFF2-40B4-BE49-F238E27FC236}">
                <a16:creationId xmlns:a16="http://schemas.microsoft.com/office/drawing/2014/main" id="{EE9451EE-ABF6-4E85-9D1E-5678C7BE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5202936"/>
            <a:ext cx="56692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Softmax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(masked)</a:t>
            </a:r>
            <a:endParaRPr sz="560"/>
          </a:p>
        </p:txBody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BE9DD5B9-5171-42B9-A3A1-661A867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394960"/>
            <a:ext cx="36576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8" name="Text 306">
            <a:extLst xmlns:a="http://schemas.openxmlformats.org/drawingml/2006/main">
              <a:ext uri="{FF2B5EF4-FFF2-40B4-BE49-F238E27FC236}">
                <a16:creationId xmlns:a16="http://schemas.microsoft.com/office/drawing/2014/main" id="{B51316B0-3678-42C7-AC46-647CC32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66928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(L_t × L_s)</a:t>
            </a:r>
            <a:endParaRPr sz="570"/>
          </a:p>
        </p:txBody>
      </p:sp>
      <p:sp>
        <p:nvSpPr>
          <p:cNvPr id="309" name="Text 307">
            <a:extLst xmlns:a="http://schemas.openxmlformats.org/drawingml/2006/main">
              <a:ext uri="{FF2B5EF4-FFF2-40B4-BE49-F238E27FC236}">
                <a16:creationId xmlns:a16="http://schemas.microsoft.com/office/drawing/2014/main" id="{C6546A8A-5A87-4F79-92B4-C8DD292C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587044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7435F48B-5303-4490-8FFD-41E4D0C8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586984"/>
            <a:ext cx="0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629578A6-5ECD-4C10-8EC4-937586C0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870448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896125EA-E38A-4228-930C-D333C828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6108192"/>
            <a:ext cx="896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F2298AA6-B07D-4B55-B6AC-32C5ADFF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5971032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4" name="Text 312">
            <a:extLst xmlns:a="http://schemas.openxmlformats.org/drawingml/2006/main">
              <a:ext uri="{FF2B5EF4-FFF2-40B4-BE49-F238E27FC236}">
                <a16:creationId xmlns:a16="http://schemas.microsoft.com/office/drawing/2014/main" id="{693B176C-7CC2-4761-814A-4A9F688F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6254496"/>
            <a:ext cx="56692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FFC"/>
          </a:solidFill>
          <a:ln xmlns:a="http://schemas.openxmlformats.org/drawingml/2006/main" w="10160">
            <a:solidFill>
              <a:srgbClr val="7B56B3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(d_h → d)</a:t>
            </a:r>
            <a:endParaRPr sz="560"/>
          </a:p>
        </p:txBody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FD4924C5-28C7-4E3D-BBD8-26E62A22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971032"/>
            <a:ext cx="100584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CE081D7F-F884-4530-A495-EB433F9C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1755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7E536DFC-81A3-40BD-8A51-EC8F917E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2898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58537023-954C-48D8-80CF-5EB40BB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4041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0F127969-BF1A-44E7-8A32-D3A4BCF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5184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4CFC9AF1-EA20-442D-826F-D41F81B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6327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21" name="Text 319">
            <a:extLst xmlns:a="http://schemas.openxmlformats.org/drawingml/2006/main">
              <a:ext uri="{FF2B5EF4-FFF2-40B4-BE49-F238E27FC236}">
                <a16:creationId xmlns:a16="http://schemas.microsoft.com/office/drawing/2014/main" id="{9BEE2B87-964F-4BB1-A92E-D551787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773168"/>
            <a:ext cx="4754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R ∈ R^(L_t × d)</a:t>
            </a:r>
            <a:endParaRPr sz="560"/>
          </a:p>
        </p:txBody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6D0FB3A-08F0-4F66-841B-1B730360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6419088"/>
            <a:ext cx="640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A52E3414-5511-4032-B9D3-F509C1C3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532120"/>
            <a:ext cx="0" cy="886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24" name="Text 322">
            <a:extLst xmlns:a="http://schemas.openxmlformats.org/drawingml/2006/main">
              <a:ext uri="{FF2B5EF4-FFF2-40B4-BE49-F238E27FC236}">
                <a16:creationId xmlns:a16="http://schemas.microsoft.com/office/drawing/2014/main" id="{34C53C97-A684-4CE4-B4C5-CEA07DB1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6473952"/>
            <a:ext cx="1755648" cy="2286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A5A5A5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contact logits or pair scores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are used in attention logits.</a:t>
            </a:r>
            <a:endParaRPr sz="540"/>
          </a:p>
        </p:txBody>
      </p:sp>
      <p:sp>
        <p:nvSpPr>
          <p:cNvPr id="325" name="Text 323">
            <a:extLst xmlns:a="http://schemas.openxmlformats.org/drawingml/2006/main">
              <a:ext uri="{FF2B5EF4-FFF2-40B4-BE49-F238E27FC236}">
                <a16:creationId xmlns:a16="http://schemas.microsoft.com/office/drawing/2014/main" id="{DFF4B05D-EE99-46B8-B39B-E4EE2F0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d_h: head dim</a:t>
            </a:r>
            <a:endParaRPr sz="500"/>
          </a:p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Multi-head</a:t>
            </a:r>
            <a:endParaRPr sz="500"/>
          </a:p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(H heads)</a:t>
            </a:r>
            <a:endParaRPr sz="500"/>
          </a:p>
        </p:txBody>
      </p:sp>
      <p:sp>
        <p:nvSpPr>
          <p:cNvPr id="326" name="Text 324">
            <a:extLst xmlns:a="http://schemas.openxmlformats.org/drawingml/2006/main">
              <a:ext uri="{FF2B5EF4-FFF2-40B4-BE49-F238E27FC236}">
                <a16:creationId xmlns:a16="http://schemas.microsoft.com/office/drawing/2014/main" id="{CF905E15-FA2B-4424-9691-CA0C6FC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663440"/>
            <a:ext cx="1005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P ∈ [0,1]^(L_ab × L_ag)</a:t>
            </a:r>
            <a:endParaRPr sz="580"/>
          </a:p>
        </p:txBody>
      </p:sp>
      <p:sp>
        <p:nvSpPr>
          <p:cNvPr id="327" name="Text 325">
            <a:extLst xmlns:a="http://schemas.openxmlformats.org/drawingml/2006/main">
              <a:ext uri="{FF2B5EF4-FFF2-40B4-BE49-F238E27FC236}">
                <a16:creationId xmlns:a16="http://schemas.microsoft.com/office/drawing/2014/main" id="{6D0198B3-B750-48BD-8481-19A94F86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4937760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(j)</a:t>
            </a:r>
            <a:endParaRPr sz="500"/>
          </a:p>
        </p:txBody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0B75E1C6-74F7-4A14-AB26-E50C146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7A055726-55D6-465B-81BF-779BD69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CFBC99EC-75C2-4DDD-B8DF-93FCEC21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9E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7708A924-6E21-4614-A788-AC1ED968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09BCD833-A97C-4D26-9634-A67E5553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ACC293FA-EACE-4075-8312-3C4C798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25D6EA40-A700-4398-A5F0-FF909EE7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9BD2CCF8-A5F2-40AD-8F3B-10A76E22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32FB85CC-02ED-41C3-A30D-5741648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62B76C53-45E7-401D-8976-B8AD5854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DD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C8ACBC65-5DE2-4ADB-96E9-B7DCA4CC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8672B79F-DDD2-4A55-B510-0EEEC508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29EF2398-0D40-4F0F-A733-A82DDD12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7A3D2298-E34C-4F31-9D5B-493118D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64A27CE2-75F7-4800-8B03-ECC38281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B3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99FF2FC0-03CD-42EE-88EA-3006D16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76F376D6-B864-47B3-853D-3080C04D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DC95C81D-B545-441D-A86F-AF3E6CC4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1D92154A-8DFB-45EC-AFE3-8EAFB780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AD91C2FF-3CBE-4C99-937E-2BD4E98A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F164D861-64FA-4E42-B081-C15353EA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283A32CA-6385-4F7D-9674-F63042ED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DE6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52308D58-EF28-4D96-B9F9-B064943D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AD1CDB46-F618-4A9E-B2E5-5FCC3CAE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6F710D47-B15F-4986-BC3D-6CA5AD1D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4F4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51F3D203-8F70-4FB7-B676-FCA7D73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F698A323-E588-41A9-A27C-AA44168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5AAEC4D1-E77D-4856-ABEE-9C1461F1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6" name="Text 354">
            <a:extLst xmlns:a="http://schemas.openxmlformats.org/drawingml/2006/main">
              <a:ext uri="{FF2B5EF4-FFF2-40B4-BE49-F238E27FC236}">
                <a16:creationId xmlns:a16="http://schemas.microsoft.com/office/drawing/2014/main" id="{D7D07DF2-C215-40DE-9193-B23D204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567928" y="5376672"/>
            <a:ext cx="12801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(i)</a:t>
            </a:r>
            <a:endParaRPr sz="480"/>
          </a:p>
        </p:txBody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40307096-4FB3-4347-B6D6-D2C063C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983480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1FE30348-0467-412F-B933-2FC85FDC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63338126-552F-4B02-9B55-D9ADBAB0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074920"/>
            <a:ext cx="0" cy="576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A79BDC6F-52EF-447E-8C1B-EB0AEBE9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3738FE7D-DA3A-4570-A3B3-8AD7A6E2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437CF93D-21FD-4E52-9B71-6A2E3DB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B82BF40-BD68-488F-A8C5-CD47654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0" cy="6949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4" name="Text 362">
            <a:extLst xmlns:a="http://schemas.openxmlformats.org/drawingml/2006/main">
              <a:ext uri="{FF2B5EF4-FFF2-40B4-BE49-F238E27FC236}">
                <a16:creationId xmlns:a16="http://schemas.microsoft.com/office/drawing/2014/main" id="{E47B1DCA-839C-460B-B7E9-944C777D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4663440"/>
            <a:ext cx="148132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Contact Head (pairwise)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P_ij → BCE (focal)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(ground truth Y_ij)</a:t>
            </a:r>
            <a:endParaRPr sz="580"/>
          </a:p>
        </p:txBody>
      </p:sp>
      <p:sp>
        <p:nvSpPr>
          <p:cNvPr id="365" name="Text 363">
            <a:extLst xmlns:a="http://schemas.openxmlformats.org/drawingml/2006/main">
              <a:ext uri="{FF2B5EF4-FFF2-40B4-BE49-F238E27FC236}">
                <a16:creationId xmlns:a16="http://schemas.microsoft.com/office/drawing/2014/main" id="{E23E0550-8874-40E0-87E5-DFE3C92D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5422392"/>
            <a:ext cx="1627632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Paratope Head (Ab side)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Row-wise OR / max / noisy-OR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p_i^para = 1 − ∏(1 − P_ij)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→ BCE (ground truth y^para)</a:t>
            </a:r>
            <a:endParaRPr sz="530"/>
          </a:p>
        </p:txBody>
      </p:sp>
      <p:sp>
        <p:nvSpPr>
          <p:cNvPr id="366" name="Text 364">
            <a:extLst xmlns:a="http://schemas.openxmlformats.org/drawingml/2006/main">
              <a:ext uri="{FF2B5EF4-FFF2-40B4-BE49-F238E27FC236}">
                <a16:creationId xmlns:a16="http://schemas.microsoft.com/office/drawing/2014/main" id="{C8D27FDE-0C78-4C47-A628-EABD37A3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6144768"/>
            <a:ext cx="1700784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Epitope Head (Ag side)</a:t>
            </a:r>
            <a:endParaRPr sz="550"/>
          </a:p>
        </p:txBody>
      </p:sp>
      <p:sp>
        <p:nvSpPr>
          <p:cNvPr id="367" name="Text 365">
            <a:extLst xmlns:a="http://schemas.openxmlformats.org/drawingml/2006/main">
              <a:ext uri="{FF2B5EF4-FFF2-40B4-BE49-F238E27FC236}">
                <a16:creationId xmlns:a16="http://schemas.microsoft.com/office/drawing/2014/main" id="{9343A6E5-231F-4653-8CF5-A595921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6364224"/>
            <a:ext cx="694944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Joint baseline</a:t>
            </a:r>
            <a:endParaRPr sz="490"/>
          </a:p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(noisy-OR / max)</a:t>
            </a:r>
            <a:endParaRPr sz="490"/>
          </a:p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p_j^epi = 1 − ∏(1 − P_ij)</a:t>
            </a:r>
            <a:endParaRPr sz="490"/>
          </a:p>
        </p:txBody>
      </p:sp>
      <p:sp>
        <p:nvSpPr>
          <p:cNvPr id="368" name="Text 366">
            <a:extLst xmlns:a="http://schemas.openxmlformats.org/drawingml/2006/main">
              <a:ext uri="{FF2B5EF4-FFF2-40B4-BE49-F238E27FC236}">
                <a16:creationId xmlns:a16="http://schemas.microsoft.com/office/drawing/2014/main" id="{CEB9BDA6-EDAB-490E-AD58-F2DC1F5C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64224"/>
            <a:ext cx="74980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TopK2 Expert (this work)</a:t>
            </a:r>
            <a:endParaRPr sz="480"/>
          </a:p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Top-2 over i for each column j</a:t>
            </a:r>
            <a:endParaRPr sz="480"/>
          </a:p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mean → logit → BCE</a:t>
            </a:r>
            <a:endParaRPr sz="480"/>
          </a:p>
        </p:txBody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5B92C67D-64C2-4FA9-9821-37FA38B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184" y="6565392"/>
            <a:ext cx="822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404040"/>
            </a:solidFill>
            <a:prstDash val="solid"/>
            <a:headEnd type="non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218763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ext 13">
            <a:extLst xmlns:a="http://schemas.openxmlformats.org/drawingml/2006/main">
              <a:ext uri="{FF2B5EF4-FFF2-40B4-BE49-F238E27FC236}">
                <a16:creationId xmlns:a16="http://schemas.microsoft.com/office/drawing/2014/main" id="{6F8B7968-8B06-4A79-A8A8-68D79D4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1164590"/>
            <a:ext cx="2205990" cy="16764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EVQLVESGGGLVQPGGSLR...</a:t>
            </a:r>
            <a:endParaRPr sz="83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15">
            <a:extLst xmlns:a="http://schemas.openxmlformats.org/drawingml/2006/main">
              <a:ext uri="{FF2B5EF4-FFF2-40B4-BE49-F238E27FC236}">
                <a16:creationId xmlns:a16="http://schemas.microsoft.com/office/drawing/2014/main" id="{A4FCBA99-89AC-4863-8654-C71BACC0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2357120"/>
            <a:ext cx="2205990" cy="16764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MKTIILASYIFCLVFADY...</a:t>
            </a:r>
            <a:endParaRPr sz="83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12">
            <a:extLst xmlns:a="http://schemas.openxmlformats.org/drawingml/2006/main">
              <a:ext uri="{FF2B5EF4-FFF2-40B4-BE49-F238E27FC236}">
                <a16:creationId xmlns:a16="http://schemas.microsoft.com/office/drawing/2014/main" id="{230BD28B-3BA9-40F6-9E79-81E8C036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8" y="908558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sequence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𝒂𝒃</m:t>
                      </m:r>
                    </m:sub>
                  </m:sSub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8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3" name="Text 14">
            <a:extLst xmlns:a="http://schemas.openxmlformats.org/drawingml/2006/main">
              <a:ext uri="{FF2B5EF4-FFF2-40B4-BE49-F238E27FC236}">
                <a16:creationId xmlns:a16="http://schemas.microsoft.com/office/drawing/2014/main" id="{07822386-7478-4C3F-8F07-D719939D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8" y="2101342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sequence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𝒂𝒈</m:t>
                      </m:r>
                    </m:sub>
                  </m:sSub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8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4" name="Text 16">
            <a:extLst xmlns:a="http://schemas.openxmlformats.org/drawingml/2006/main">
              <a:ext uri="{FF2B5EF4-FFF2-40B4-BE49-F238E27FC236}">
                <a16:creationId xmlns:a16="http://schemas.microsoft.com/office/drawing/2014/main" id="{535FEC7B-A260-4C69-B4CB-68CCA404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103822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859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772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4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PLM cache</a:t>
            </a:r>
            <a:endParaRPr sz="800"/>
          </a:p>
          <a:p xmlns:a="http://schemas.openxmlformats.org/drawingml/2006/main">
            <a:pPr marL="0" indent="0" algn="ctr">
              <a:buNone/>
              <a:defRPr sz="84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ESM-2 650M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84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1280d → 128d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9" name="直接箭头连接符 75"/>
          <p:cNvCxnSpPr>
            <a:stCxn xmlns:a="http://schemas.openxmlformats.org/drawingml/2006/main" id="70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2804160" y="1248410"/>
            <a:ext cx="2609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0" name="直接箭头连接符 76"/>
          <p:cNvCxnSpPr>
            <a:stCxn xmlns:a="http://schemas.openxmlformats.org/drawingml/2006/main" id="74" idx="3"/>
          </p:cNvCxnSpPr>
          <p:nvPr/>
        </p:nvCxnSpPr>
        <p:spPr>
          <a:xfrm xmlns:a="http://schemas.openxmlformats.org/drawingml/2006/main">
            <a:off x="3879850" y="1248410"/>
            <a:ext cx="210820" cy="44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79" name="Text 16">
            <a:extLst xmlns:a="http://schemas.openxmlformats.org/drawingml/2006/main">
              <a:ext uri="{FF2B5EF4-FFF2-40B4-BE49-F238E27FC236}">
                <a16:creationId xmlns:a16="http://schemas.microsoft.com/office/drawing/2014/main" id="{20E47C4C-81C2-4FB1-88E5-61DF0F7C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23075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859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772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4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PLM cache</a:t>
            </a:r>
            <a:endParaRPr sz="800"/>
          </a:p>
          <a:p xmlns:a="http://schemas.openxmlformats.org/drawingml/2006/main">
            <a:pPr marL="0" indent="0" algn="ctr">
              <a:buNone/>
              <a:defRPr sz="84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ESM-2 650M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84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1280d → 128d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2" name="直接箭头连接符 80"/>
          <p:cNvCxnSpPr>
            <a:stCxn xmlns:a="http://schemas.openxmlformats.org/drawingml/2006/main" id="71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2804160" y="2440940"/>
            <a:ext cx="2609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3" name="直接箭头连接符 81"/>
          <p:cNvCxnSpPr>
            <a:stCxn xmlns:a="http://schemas.openxmlformats.org/drawingml/2006/main" id="79" idx="3"/>
          </p:cNvCxnSpPr>
          <p:nvPr/>
        </p:nvCxnSpPr>
        <p:spPr>
          <a:xfrm xmlns:a="http://schemas.openxmlformats.org/drawingml/2006/main">
            <a:off x="3879850" y="2440940"/>
            <a:ext cx="2108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3" name="Text 16">
            <a:extLst xmlns:a="http://schemas.openxmlformats.org/drawingml/2006/main">
              <a:ext uri="{FF2B5EF4-FFF2-40B4-BE49-F238E27FC236}">
                <a16:creationId xmlns:a16="http://schemas.microsoft.com/office/drawing/2014/main" id="{4BC38C64-1F3B-480F-ABE4-5EE1EF6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158559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2859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922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32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Predicted backbone</a:t>
            </a:r>
            <a:endParaRPr sz="800"/>
          </a:p>
          <a:p xmlns:a="http://schemas.openxmlformats.org/drawingml/2006/main">
            <a:pPr marL="0" indent="0" algn="ctr">
              <a:buNone/>
              <a:defRPr sz="832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N / CA / C cache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5" name="直接箭头连接符 84"/>
          <p:cNvCxnSpPr>
            <a:stCxn xmlns:a="http://schemas.openxmlformats.org/drawingml/2006/main" id="83" idx="3"/>
          </p:cNvCxnSpPr>
          <p:nvPr/>
        </p:nvCxnSpPr>
        <p:spPr>
          <a:xfrm xmlns:a="http://schemas.openxmlformats.org/drawingml/2006/main" flipV="1">
            <a:off x="3879850" y="179451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6" name="直接箭头连接符 85"/>
          <p:cNvCxnSpPr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2912110" y="1794510"/>
            <a:ext cx="153035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BC7D49BE-4E12-4B27-AA76-A307C705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1252855"/>
            <a:ext cx="0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8" name="Text 16">
            <a:extLst xmlns:a="http://schemas.openxmlformats.org/drawingml/2006/main">
              <a:ext uri="{FF2B5EF4-FFF2-40B4-BE49-F238E27FC236}">
                <a16:creationId xmlns:a16="http://schemas.microsoft.com/office/drawing/2014/main" id="{3761AF86-8127-4ADC-99AD-CDDDB274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77939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2859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922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32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Predicted backbone</a:t>
            </a:r>
            <a:endParaRPr sz="800"/>
          </a:p>
          <a:p xmlns:a="http://schemas.openxmlformats.org/drawingml/2006/main">
            <a:pPr marL="0" indent="0" algn="ctr">
              <a:buNone/>
              <a:defRPr sz="832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32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N / CA / C cache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9" name="直接箭头连接符 89"/>
          <p:cNvCxnSpPr>
            <a:stCxn xmlns:a="http://schemas.openxmlformats.org/drawingml/2006/main" id="88" idx="3"/>
          </p:cNvCxnSpPr>
          <p:nvPr/>
        </p:nvCxnSpPr>
        <p:spPr>
          <a:xfrm xmlns:a="http://schemas.openxmlformats.org/drawingml/2006/main" flipV="1">
            <a:off x="3879850" y="298831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00" name="直接箭头连接符 90"/>
          <p:cNvCxnSpPr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912110" y="2988310"/>
            <a:ext cx="153035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CA4B43D9-944E-4BFF-A85A-1EDE346B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2446655"/>
            <a:ext cx="0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Text 18">
            <a:extLst xmlns:a="http://schemas.openxmlformats.org/drawingml/2006/main">
              <a:ext uri="{FF2B5EF4-FFF2-40B4-BE49-F238E27FC236}">
                <a16:creationId xmlns:a16="http://schemas.microsoft.com/office/drawing/2014/main" id="{D6A9E0B7-2109-465E-9489-D1764F29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670" y="1053465"/>
            <a:ext cx="1039495" cy="216154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2859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30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93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Interleaved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930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93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Partner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930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93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Exchange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930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93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Block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 12">
            <a:extLst xmlns:a="http://schemas.openxmlformats.org/drawingml/2006/main">
              <a:ext uri="{FF2B5EF4-FFF2-40B4-BE49-F238E27FC236}">
                <a16:creationId xmlns:a16="http://schemas.microsoft.com/office/drawing/2014/main" id="{0A202ECB-A4EC-472C-BDB3-EB1D505B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965" y="1396365"/>
            <a:ext cx="207010" cy="255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00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× 2</a:t>
            </a:r>
            <a:endParaRPr sz="10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cxnSp>
        <p:nvCxnSpPr>
          <p:cNvPr id="404" name="直接箭头连接符 95"/>
          <p:cNvCxnSpPr/>
          <p:nvPr/>
        </p:nvCxnSpPr>
        <p:spPr>
          <a:xfrm xmlns:a="http://schemas.openxmlformats.org/drawingml/2006/main" flipV="1">
            <a:off x="5130165" y="298704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05" name="直接箭头连接符 96"/>
          <p:cNvCxnSpPr/>
          <p:nvPr/>
        </p:nvCxnSpPr>
        <p:spPr>
          <a:xfrm xmlns:a="http://schemas.openxmlformats.org/drawingml/2006/main">
            <a:off x="5130165" y="2453005"/>
            <a:ext cx="2133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8" name="Shape 73">
            <a:extLst xmlns:a="http://schemas.openxmlformats.org/drawingml/2006/main">
              <a:ext uri="{FF2B5EF4-FFF2-40B4-BE49-F238E27FC236}">
                <a16:creationId xmlns:a16="http://schemas.microsoft.com/office/drawing/2014/main" id="{3168A858-0C70-4C17-BE04-4C8A668A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3525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99" name="Shape 74">
            <a:extLst xmlns:a="http://schemas.openxmlformats.org/drawingml/2006/main">
              <a:ext uri="{FF2B5EF4-FFF2-40B4-BE49-F238E27FC236}">
                <a16:creationId xmlns:a16="http://schemas.microsoft.com/office/drawing/2014/main" id="{B97D558E-D7B0-48A9-9B5F-8BF17F69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2648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7" name="Shape 75">
            <a:extLst xmlns:a="http://schemas.openxmlformats.org/drawingml/2006/main">
              <a:ext uri="{FF2B5EF4-FFF2-40B4-BE49-F238E27FC236}">
                <a16:creationId xmlns:a16="http://schemas.microsoft.com/office/drawing/2014/main" id="{23AD43AB-662B-470F-BBEC-33F79DA3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2940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8" name="Shape 76">
            <a:extLst xmlns:a="http://schemas.openxmlformats.org/drawingml/2006/main">
              <a:ext uri="{FF2B5EF4-FFF2-40B4-BE49-F238E27FC236}">
                <a16:creationId xmlns:a16="http://schemas.microsoft.com/office/drawing/2014/main" id="{719A8FA2-ABF4-4721-8798-1358F3AA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2063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9" name="Shape 77">
            <a:extLst xmlns:a="http://schemas.openxmlformats.org/drawingml/2006/main">
              <a:ext uri="{FF2B5EF4-FFF2-40B4-BE49-F238E27FC236}">
                <a16:creationId xmlns:a16="http://schemas.microsoft.com/office/drawing/2014/main" id="{87820FE3-A6F3-4E9A-A5FE-E0E08F07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354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0" name="Shape 78">
            <a:extLst xmlns:a="http://schemas.openxmlformats.org/drawingml/2006/main">
              <a:ext uri="{FF2B5EF4-FFF2-40B4-BE49-F238E27FC236}">
                <a16:creationId xmlns:a16="http://schemas.microsoft.com/office/drawing/2014/main" id="{7237B4FB-1A92-4C3F-BB59-A1A5A7F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1477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1" name="Shape 79">
            <a:extLst xmlns:a="http://schemas.openxmlformats.org/drawingml/2006/main">
              <a:ext uri="{FF2B5EF4-FFF2-40B4-BE49-F238E27FC236}">
                <a16:creationId xmlns:a16="http://schemas.microsoft.com/office/drawing/2014/main" id="{569E480C-DC9D-4A3A-8216-601957C6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1769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8" name="Shape 80">
            <a:extLst xmlns:a="http://schemas.openxmlformats.org/drawingml/2006/main">
              <a:ext uri="{FF2B5EF4-FFF2-40B4-BE49-F238E27FC236}">
                <a16:creationId xmlns:a16="http://schemas.microsoft.com/office/drawing/2014/main" id="{53288551-1BEE-4D69-A2ED-248174A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0892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1" name="Shape 73">
            <a:extLst xmlns:a="http://schemas.openxmlformats.org/drawingml/2006/main">
              <a:ext uri="{FF2B5EF4-FFF2-40B4-BE49-F238E27FC236}">
                <a16:creationId xmlns:a16="http://schemas.microsoft.com/office/drawing/2014/main" id="{E2F1F853-6CB9-417E-A64B-C3AAFFE2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160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2" name="Shape 74">
            <a:extLst xmlns:a="http://schemas.openxmlformats.org/drawingml/2006/main">
              <a:ext uri="{FF2B5EF4-FFF2-40B4-BE49-F238E27FC236}">
                <a16:creationId xmlns:a16="http://schemas.microsoft.com/office/drawing/2014/main" id="{9E356075-054E-4C4A-BE1D-AF6C7585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3283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3" name="Shape 75">
            <a:extLst xmlns:a="http://schemas.openxmlformats.org/drawingml/2006/main">
              <a:ext uri="{FF2B5EF4-FFF2-40B4-BE49-F238E27FC236}">
                <a16:creationId xmlns:a16="http://schemas.microsoft.com/office/drawing/2014/main" id="{BFF49C96-D54D-4ACB-8D2D-7615DE48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3575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4" name="Shape 76">
            <a:extLst xmlns:a="http://schemas.openxmlformats.org/drawingml/2006/main">
              <a:ext uri="{FF2B5EF4-FFF2-40B4-BE49-F238E27FC236}">
                <a16:creationId xmlns:a16="http://schemas.microsoft.com/office/drawing/2014/main" id="{CFD97D81-6D22-4CBD-96A7-4B8CC695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2698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5" name="Shape 77">
            <a:extLst xmlns:a="http://schemas.openxmlformats.org/drawingml/2006/main">
              <a:ext uri="{FF2B5EF4-FFF2-40B4-BE49-F238E27FC236}">
                <a16:creationId xmlns:a16="http://schemas.microsoft.com/office/drawing/2014/main" id="{E06BDC66-90F1-41FE-BE7D-813F7886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989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6" name="Shape 78">
            <a:extLst xmlns:a="http://schemas.openxmlformats.org/drawingml/2006/main">
              <a:ext uri="{FF2B5EF4-FFF2-40B4-BE49-F238E27FC236}">
                <a16:creationId xmlns:a16="http://schemas.microsoft.com/office/drawing/2014/main" id="{BEF0564C-517C-40D6-9FD9-BCDC4FBD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112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7" name="Shape 79">
            <a:extLst xmlns:a="http://schemas.openxmlformats.org/drawingml/2006/main">
              <a:ext uri="{FF2B5EF4-FFF2-40B4-BE49-F238E27FC236}">
                <a16:creationId xmlns:a16="http://schemas.microsoft.com/office/drawing/2014/main" id="{091A2927-DC2B-4896-A5DF-BAA739F9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2404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8" name="Shape 80">
            <a:extLst xmlns:a="http://schemas.openxmlformats.org/drawingml/2006/main">
              <a:ext uri="{FF2B5EF4-FFF2-40B4-BE49-F238E27FC236}">
                <a16:creationId xmlns:a16="http://schemas.microsoft.com/office/drawing/2014/main" id="{5A021CA4-F6D3-4F87-BFE9-4E6D7633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1527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9" name="文本框 138">
            <a:extLst xmlns:a="http://schemas.openxmlformats.org/drawingml/2006/main">
              <a:ext uri="{FF2B5EF4-FFF2-40B4-BE49-F238E27FC236}">
                <a16:creationId xmlns:a16="http://schemas.microsoft.com/office/drawing/2014/main" id="{F081E86F-E70E-4743-806B-38504455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255" y="2100580"/>
            <a:ext cx="946150" cy="250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acc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𝑯</m:t>
                          </m:r>
                        </m:e>
                      </m:acc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𝒂𝒃</m:t>
                      </m:r>
                    </m:sup>
                  </m:sSup>
                  <m:r>
                    <a:rPr xmlns:a="http://schemas.openxmlformats.org/drawingml/2006/main" lang="en-US" sz="10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∈</m:t>
                  </m:r>
                  <m:sSup>
                    <m:e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𝑹</m:t>
                      </m:r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𝑳</m:t>
                          </m:r>
                        </m:e>
                        <m:sub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𝒂𝒃</m:t>
                          </m:r>
                        </m:sub>
                      </m:sSub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p>
                </m:oMath>
              </m:oMathPara>
            </a14:m>
            <a:r>
              <a:rPr sz="10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endParaRPr sz="102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文本框 139">
            <a:extLst xmlns:a="http://schemas.openxmlformats.org/drawingml/2006/main">
              <a:ext uri="{FF2B5EF4-FFF2-40B4-BE49-F238E27FC236}">
                <a16:creationId xmlns:a16="http://schemas.microsoft.com/office/drawing/2014/main" id="{8BCC5604-2397-4CC8-BBAA-3D27859A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255" y="3091180"/>
            <a:ext cx="946150" cy="250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acc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𝑯</m:t>
                          </m:r>
                        </m:e>
                      </m:acc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𝒂𝒈</m:t>
                      </m:r>
                    </m:sup>
                  </m:sSup>
                  <m:r>
                    <a:rPr xmlns:a="http://schemas.openxmlformats.org/drawingml/2006/main" lang="en-US" sz="10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∈</m:t>
                  </m:r>
                  <m:sSup>
                    <m:e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𝑹</m:t>
                      </m:r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𝑳</m:t>
                          </m:r>
                        </m:e>
                        <m:sub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𝒂𝒈</m:t>
                          </m:r>
                        </m:sub>
                      </m:sSub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p>
                </m:oMath>
              </m:oMathPara>
            </a14:m>
            <a:r>
              <a:rPr sz="10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endParaRPr sz="102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 18">
            <a:extLst xmlns:a="http://schemas.openxmlformats.org/drawingml/2006/main">
              <a:ext uri="{FF2B5EF4-FFF2-40B4-BE49-F238E27FC236}">
                <a16:creationId xmlns:a16="http://schemas.microsoft.com/office/drawing/2014/main" id="{1080CB6C-0963-4598-AC6B-4123AA0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00580"/>
            <a:ext cx="1039495" cy="112458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2859">
            <a:solidFill>
              <a:srgbClr val="E69A5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Final Symmetric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Low-Rank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Pair Decoder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25" name="直接箭头连接符 141"/>
          <p:cNvCxnSpPr/>
          <p:nvPr/>
        </p:nvCxnSpPr>
        <p:spPr>
          <a:xfrm xmlns:a="http://schemas.openxmlformats.org/drawingml/2006/main">
            <a:off x="6447790" y="2989580"/>
            <a:ext cx="1720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26" name="直接箭头连接符 142"/>
          <p:cNvCxnSpPr/>
          <p:nvPr/>
        </p:nvCxnSpPr>
        <p:spPr>
          <a:xfrm xmlns:a="http://schemas.openxmlformats.org/drawingml/2006/main">
            <a:off x="6447790" y="2440940"/>
            <a:ext cx="1720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2" name="Text 180">
            <a:extLst xmlns:a="http://schemas.openxmlformats.org/drawingml/2006/main">
              <a:ext uri="{FF2B5EF4-FFF2-40B4-BE49-F238E27FC236}">
                <a16:creationId xmlns:a16="http://schemas.microsoft.com/office/drawing/2014/main" id="{CBB27F1D-5E00-42D6-9D9B-A49933E2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490" y="1670685"/>
            <a:ext cx="2024380" cy="29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125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Pair probabilities  pᵣ</a:t>
            </a:r>
            <a:endParaRPr sz="90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4916AE99-D6E8-4390-9089-17428CCE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146BC735-43D7-4D58-AFF1-ABC6346D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37AC7B24-C9FA-479F-87D7-04325CEF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6E8643DF-4219-4A74-82D2-395D7CFB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9F4EA956-52F7-4CA0-88A3-C31B411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FD31A9A8-0519-46BB-8D71-81CA79E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B8DE318D-07C6-472A-B842-0FB553EA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E2CF2830-CFE6-453C-9781-EB7827C3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6441BD44-C68F-4E92-A529-BD6410B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1252AA98-9988-456A-9B3F-99DDAA3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32AEDD09-F992-4CE4-BA47-3F8C4C93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45554D3B-C19D-4AC3-9C36-097C9E9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DE1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37497F2C-F228-48E6-A938-32EEE7D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EC862C1D-0FFC-4A4A-8BF1-CD7AB01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2BADD01F-CEFB-412E-9182-63A0C0D3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C013635F-AC7E-4148-A6B0-F892442E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6147DFA2-85EE-4CC2-AA4A-B38E1149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492E92EA-BC2C-4F1A-8749-C94E3D76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78791255-500A-4F11-9877-BB2F1200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F689035C-B1DC-4867-9D46-FCE17E13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D5F86D09-1A62-4F8A-82AE-1632F26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935C709A-8273-4A2E-84D8-819EA67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5F0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670A4EC3-04A3-4703-9986-E1894495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BBB02A50-8609-46D0-87AF-6354D3D0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D4AB608A-A9CE-4813-B37A-ACA4C305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85A1A588-2A0A-44DF-864E-08284E1D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834E8620-099B-4ECD-AD71-BD7887D0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C17E098B-5841-4061-B845-A4B1084C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12C3F616-AEE0-4DB2-9B5C-A40F7F11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0D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7D276199-1F06-45A1-AEFD-301A5F4F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C73DA5BF-797D-4D27-818A-7B638CA4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A356631E-28E7-474F-94A3-B0D5963E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6B201D19-7743-4DDC-9D52-9124FFCA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CF41E8D7-FE5B-498B-A646-D97CE83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9CC5CDC-CBA6-482A-9B23-9ED0064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7E41E280-9AB3-462F-A1F8-DEC60C37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49A72CB1-BCB3-43B5-924A-66A209E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69596096-CCC3-4DB4-9129-1F0A0A9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5AC1E26D-3A0F-4D46-924E-E71EF74C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93E1EB61-C8C5-4D00-ACE4-DAC0FFA2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A9ED9DD9-E14E-47E8-A589-8682ED4E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CAC70108-93DC-404B-9517-94A78934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053392A9-5E65-4160-BD4C-1ECB51F5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EE104E48-F467-4EB7-9218-5DC0B7B3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F9E22C66-64B3-48C2-BA48-098516CA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70437CF8-7372-43BF-BFFC-07E7D09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EEEA88CB-E0CE-48A8-92DF-ED228441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88E0EA72-1C48-4CE0-98BC-6F4A8BA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15328026-26DC-4E3B-9B63-66F7616B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BC839BE8-F1C0-4F4A-A130-63B5794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63A0A6D7-8ECA-4049-BC3B-3314AE27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0EE28174-95A9-47A7-8E23-4FF1DF60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622A6760-8A20-40A7-BD8D-07A5BC0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6EA2ED2C-B4BC-4D3F-B0E4-12482C3E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ECF83A73-EEB6-48F2-8F37-CDB5CEE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BDEC9D83-0E9E-4BAE-B42A-77FE1356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9" name="Text 237">
            <a:extLst xmlns:a="http://schemas.openxmlformats.org/drawingml/2006/main">
              <a:ext uri="{FF2B5EF4-FFF2-40B4-BE49-F238E27FC236}">
                <a16:creationId xmlns:a16="http://schemas.microsoft.com/office/drawing/2014/main" id="{CEDB79B2-C805-4E76-8CAA-13D83D8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1931670"/>
            <a:ext cx="1447064" cy="1891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residues (j)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 238">
            <a:extLst xmlns:a="http://schemas.openxmlformats.org/drawingml/2006/main">
              <a:ext uri="{FF2B5EF4-FFF2-40B4-BE49-F238E27FC236}">
                <a16:creationId xmlns:a16="http://schemas.microsoft.com/office/drawing/2014/main" id="{FE5B8E8E-C190-4F27-A1D1-786471A0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442814" y="2665147"/>
            <a:ext cx="1279843" cy="182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residues (i)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86" name="直接箭头连接符 144"/>
          <p:cNvCxnSpPr>
            <a:stCxn xmlns:a="http://schemas.openxmlformats.org/drawingml/2006/main" id="141" idx="3"/>
          </p:cNvCxnSpPr>
          <p:nvPr/>
        </p:nvCxnSpPr>
        <p:spPr>
          <a:xfrm xmlns:a="http://schemas.openxmlformats.org/drawingml/2006/main">
            <a:off x="7659370" y="2663190"/>
            <a:ext cx="3321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7" name="Text 18">
            <a:extLst xmlns:a="http://schemas.openxmlformats.org/drawingml/2006/main">
              <a:ext uri="{FF2B5EF4-FFF2-40B4-BE49-F238E27FC236}">
                <a16:creationId xmlns:a16="http://schemas.microsoft.com/office/drawing/2014/main" id="{542393FD-F955-4C04-800A-1685E6A4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3619500" cy="6096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2859">
            <a:solidFill>
              <a:srgbClr val="E69A5C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1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CONTACT · Jᵣ     Pairwise output:  Pᶜᵢⱼ = σ(zᴶᵢⱼ)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 18">
            <a:extLst xmlns:a="http://schemas.openxmlformats.org/drawingml/2006/main">
              <a:ext uri="{FF2B5EF4-FFF2-40B4-BE49-F238E27FC236}">
                <a16:creationId xmlns:a16="http://schemas.microsoft.com/office/drawing/2014/main" id="{63F47FA7-0BB4-41B5-BEB5-88AAEB2C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72150"/>
            <a:ext cx="3619500" cy="7239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2859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48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EPITOPE · Eᵣ     for each Ag residue j: Top-2 valid σ(zᴱᵢⱼ) → mean → clip → logit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18">
            <a:extLst xmlns:a="http://schemas.openxmlformats.org/drawingml/2006/main">
              <a:ext uri="{FF2B5EF4-FFF2-40B4-BE49-F238E27FC236}">
                <a16:creationId xmlns:a16="http://schemas.microsoft.com/office/drawing/2014/main" id="{D05E35EE-A051-4B55-BBE2-A32DC370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3619500" cy="7239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859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4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PARATOPE · Jᵣ     direct Ab node logit + tanh(gₚ) · masked LMEⱼ(zᴶᵢⱼ) → sigmoid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直接连接符 153">
            <a:extLst xmlns:a="http://schemas.openxmlformats.org/drawingml/2006/main">
              <a:ext uri="{FF2B5EF4-FFF2-40B4-BE49-F238E27FC236}">
                <a16:creationId xmlns:a16="http://schemas.microsoft.com/office/drawing/2014/main" id="{8032AF59-A0ED-4BA1-BAFB-98298BA6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" y="3091180"/>
            <a:ext cx="3492500" cy="6902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5" name="直接连接符 154">
            <a:extLst xmlns:a="http://schemas.openxmlformats.org/drawingml/2006/main">
              <a:ext uri="{FF2B5EF4-FFF2-40B4-BE49-F238E27FC236}">
                <a16:creationId xmlns:a16="http://schemas.microsoft.com/office/drawing/2014/main" id="{56E1BC77-19AA-4C48-8E07-9A2FCB0C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3091180"/>
            <a:ext cx="699770" cy="6902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6" name="Shape 2">
            <a:extLst xmlns:a="http://schemas.openxmlformats.org/drawingml/2006/main">
              <a:ext uri="{FF2B5EF4-FFF2-40B4-BE49-F238E27FC236}">
                <a16:creationId xmlns:a16="http://schemas.microsoft.com/office/drawing/2014/main" id="{A48225D8-B90E-4D64-9C49-E6B6ED8A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76650"/>
            <a:ext cx="7334250" cy="2981325"/>
          </a:xfrm>
          <a:prstGeom xmlns:a="http://schemas.openxmlformats.org/drawingml/2006/main" prst="roundRect">
            <a:avLst>
              <a:gd name="adj" fmla="val 3834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8EA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7" name="直接连接符 156">
            <a:extLst xmlns:a="http://schemas.openxmlformats.org/drawingml/2006/main">
              <a:ext uri="{FF2B5EF4-FFF2-40B4-BE49-F238E27FC236}">
                <a16:creationId xmlns:a16="http://schemas.microsoft.com/office/drawing/2014/main" id="{53850EFD-775D-416E-A4AD-56F21670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60" y="1652270"/>
            <a:ext cx="753745" cy="49657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8" name="直接连接符 157">
            <a:extLst xmlns:a="http://schemas.openxmlformats.org/drawingml/2006/main">
              <a:ext uri="{FF2B5EF4-FFF2-40B4-BE49-F238E27FC236}">
                <a16:creationId xmlns:a16="http://schemas.microsoft.com/office/drawing/2014/main" id="{46B94DED-8B2F-4DFA-9B6F-6057C99F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59370" y="1670685"/>
            <a:ext cx="231140" cy="4781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9" name="Shape 2">
            <a:extLst xmlns:a="http://schemas.openxmlformats.org/drawingml/2006/main">
              <a:ext uri="{FF2B5EF4-FFF2-40B4-BE49-F238E27FC236}">
                <a16:creationId xmlns:a16="http://schemas.microsoft.com/office/drawing/2014/main" id="{C77D246C-289B-41F4-90E0-ABEAAE7D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60" y="369570"/>
            <a:ext cx="1991360" cy="1282700"/>
          </a:xfrm>
          <a:prstGeom xmlns:a="http://schemas.openxmlformats.org/drawingml/2006/main" prst="roundRect">
            <a:avLst>
              <a:gd name="adj" fmla="val 7426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13335">
            <a:solidFill>
              <a:srgbClr val="E69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2" name="Detailed architecture title">
            <a:extLst xmlns:a="http://schemas.openxmlformats.org/drawingml/2006/main">
              <a:ext uri="{FF2B5EF4-FFF2-40B4-BE49-F238E27FC236}">
                <a16:creationId xmlns:a16="http://schemas.microsoft.com/office/drawing/2014/main" id="{F834E087-C05A-4F06-A4CF-5AE499F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620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96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FrameContact: factorized intra-chain encoding, partner exchange, and routed heads</a:t>
            </a:r>
          </a:p>
        </p:txBody>
      </p:sp>
      <p:sp>
        <p:nvSpPr>
          <p:cNvPr id="353" name="Pair decoder detail title">
            <a:extLst xmlns:a="http://schemas.openxmlformats.org/drawingml/2006/main">
              <a:ext uri="{FF2B5EF4-FFF2-40B4-BE49-F238E27FC236}">
                <a16:creationId xmlns:a16="http://schemas.microsoft.com/office/drawing/2014/main" id="{4DBC80A5-5798-4D6B-BA82-A5E848C5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0957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904"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Symmetric Low-Rank Pair Decoder</a:t>
            </a:r>
          </a:p>
        </p:txBody>
      </p:sp>
      <p:sp>
        <p:nvSpPr>
          <p:cNvPr id="354" name="Pair decoder detail equation">
            <a:extLst xmlns:a="http://schemas.openxmlformats.org/drawingml/2006/main">
              <a:ext uri="{FF2B5EF4-FFF2-40B4-BE49-F238E27FC236}">
                <a16:creationId xmlns:a16="http://schemas.microsoft.com/office/drawing/2014/main" id="{2C928D96-9D85-4DE8-927C-3A1BD5FE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619125"/>
            <a:ext cx="1809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φ(x,y) = q(x)ᵀk(y)/√dₚ + u(x) + v(y) +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6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zᵢⱼ = ½[φ(hᵢᴬᵇ,hⱼᴬᵍ) + φ(hⱼᴬᵍ,hᵢᴬᵇ)]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6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pᵢⱼ = σ(zᵢⱼ),   dₚ = 128</a:t>
            </a:r>
          </a:p>
        </p:txBody>
      </p:sp>
      <p:sp>
        <p:nvSpPr>
          <p:cNvPr id="355" name="Interleaved block detail title">
            <a:extLst xmlns:a="http://schemas.openxmlformats.org/drawingml/2006/main">
              <a:ext uri="{FF2B5EF4-FFF2-40B4-BE49-F238E27FC236}">
                <a16:creationId xmlns:a16="http://schemas.microsoft.com/office/drawing/2014/main" id="{BA73B615-7A0A-4602-8481-B216C65D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7000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Interleaved Geometry-Aware Partner-Exchange Block  ℓ ∈ {1, 2}</a:t>
            </a:r>
          </a:p>
        </p:txBody>
      </p:sp>
      <p:sp>
        <p:nvSpPr>
          <p:cNvPr id="356" name="Factorized intra-chain module frame">
            <a:extLst xmlns:a="http://schemas.openxmlformats.org/drawingml/2006/main">
              <a:ext uri="{FF2B5EF4-FFF2-40B4-BE49-F238E27FC236}">
                <a16:creationId xmlns:a16="http://schemas.microsoft.com/office/drawing/2014/main" id="{6F01D419-1C0E-4CF0-9A90-2EFDDC37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3333750" cy="2457450"/>
          </a:xfrm>
          <a:prstGeom xmlns:a="http://schemas.openxmlformats.org/drawingml/2006/main" prst="roundRect">
            <a:avLst>
              <a:gd name="adj" fmla="val 3876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859">
            <a:solidFill>
              <a:srgbClr val="5B8DEF"/>
            </a:solidFill>
            <a:prstDash val="solid"/>
          </a:ln>
        </p:spPr>
      </p:sp>
      <p:sp>
        <p:nvSpPr>
          <p:cNvPr id="357" name="Stage pair module frame">
            <a:extLst xmlns:a="http://schemas.openxmlformats.org/drawingml/2006/main">
              <a:ext uri="{FF2B5EF4-FFF2-40B4-BE49-F238E27FC236}">
                <a16:creationId xmlns:a16="http://schemas.microsoft.com/office/drawing/2014/main" id="{DBEC0D7F-AC08-4300-8457-70003693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38600"/>
            <a:ext cx="1466850" cy="24574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12859">
            <a:solidFill>
              <a:srgbClr val="E69A5C"/>
            </a:solidFill>
            <a:prstDash val="solid"/>
          </a:ln>
        </p:spPr>
      </p:sp>
      <p:sp>
        <p:nvSpPr>
          <p:cNvPr id="358" name="Partner exchange module frame">
            <a:extLst xmlns:a="http://schemas.openxmlformats.org/drawingml/2006/main">
              <a:ext uri="{FF2B5EF4-FFF2-40B4-BE49-F238E27FC236}">
                <a16:creationId xmlns:a16="http://schemas.microsoft.com/office/drawing/2014/main" id="{1E1F2EDC-6902-47E6-BC82-FC84E48C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38600"/>
            <a:ext cx="2009775" cy="2457450"/>
          </a:xfrm>
          <a:prstGeom xmlns:a="http://schemas.openxmlformats.org/drawingml/2006/main" prst="roundRect">
            <a:avLst>
              <a:gd name="adj" fmla="val 4739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8B72D1"/>
            </a:solidFill>
            <a:prstDash val="solid"/>
          </a:ln>
        </p:spPr>
      </p:sp>
      <p:sp>
        <p:nvSpPr>
          <p:cNvPr id="359" name="Factorized encoder module title">
            <a:extLst xmlns:a="http://schemas.openxmlformats.org/drawingml/2006/main">
              <a:ext uri="{FF2B5EF4-FFF2-40B4-BE49-F238E27FC236}">
                <a16:creationId xmlns:a16="http://schemas.microsoft.com/office/drawing/2014/main" id="{17162D6E-8336-4770-88BC-40DA2174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3124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Factorized Intra-Chain Encoder</a:t>
            </a:r>
          </a:p>
          <a:p xmlns:a="http://schemas.openxmlformats.org/drawingml/2006/main">
            <a:pPr algn="ctr">
              <a:defRPr sz="840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(two parameter-unshared copies run in parallel: Ab and Ag)</a:t>
            </a:r>
          </a:p>
        </p:txBody>
      </p:sp>
      <p:sp>
        <p:nvSpPr>
          <p:cNvPr id="360" name="Intra-chain hidden input">
            <a:extLst xmlns:a="http://schemas.openxmlformats.org/drawingml/2006/main">
              <a:ext uri="{FF2B5EF4-FFF2-40B4-BE49-F238E27FC236}">
                <a16:creationId xmlns:a16="http://schemas.microsoft.com/office/drawing/2014/main" id="{05E5B19C-8272-4346-89ED-860E558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85775" cy="5334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906">
            <a:solidFill>
              <a:srgbClr val="B7C3D0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Hˡ⁻¹</a:t>
            </a:r>
          </a:p>
          <a:p xmlns:a="http://schemas.openxmlformats.org/drawingml/2006/main">
            <a:pPr algn="ctr">
              <a:defRPr sz="713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PLM</a:t>
            </a:r>
          </a:p>
          <a:p xmlns:a="http://schemas.openxmlformats.org/drawingml/2006/main">
            <a:pPr algn="ctr">
              <a:defRPr sz="713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361" name="Dense sequence self-attention module">
            <a:extLst xmlns:a="http://schemas.openxmlformats.org/drawingml/2006/main">
              <a:ext uri="{FF2B5EF4-FFF2-40B4-BE49-F238E27FC236}">
                <a16:creationId xmlns:a16="http://schemas.microsoft.com/office/drawing/2014/main" id="{F53DFB3A-81AE-428D-9723-B049D74A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1438275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906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98177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Dense Sequence Self-Attention</a:t>
            </a:r>
          </a:p>
          <a:p xmlns:a="http://schemas.openxmlformats.org/drawingml/2006/main">
            <a:pPr algn="ctr">
              <a:defRPr sz="735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LN → QKV + RoPE → global MHA</a:t>
            </a:r>
          </a:p>
          <a:p xmlns:a="http://schemas.openxmlformats.org/drawingml/2006/main">
            <a:pPr algn="ctr">
              <a:defRPr sz="735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residual → LN → SiLU FFN</a:t>
            </a:r>
          </a:p>
        </p:txBody>
      </p:sp>
      <p:sp>
        <p:nvSpPr>
          <p:cNvPr id="362" name="Local geometry-biased self-attention module">
            <a:extLst xmlns:a="http://schemas.openxmlformats.org/drawingml/2006/main">
              <a:ext uri="{FF2B5EF4-FFF2-40B4-BE49-F238E27FC236}">
                <a16:creationId xmlns:a16="http://schemas.microsoft.com/office/drawing/2014/main" id="{0DFD34F7-46C8-40DC-8D12-9A635205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38750"/>
            <a:ext cx="1438275" cy="962025"/>
          </a:xfrm>
          <a:prstGeom xmlns:a="http://schemas.openxmlformats.org/drawingml/2006/main" prst="roundRect">
            <a:avLst>
              <a:gd name="adj" fmla="val 8911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1906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682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Local Geometry-Biased Self-Attention</a:t>
            </a:r>
          </a:p>
          <a:p xmlns:a="http://schemas.openxmlformats.org/drawingml/2006/main">
            <a:pPr algn="ctr">
              <a:defRPr sz="682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682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N/CA/C → frames; RBF + direction + rotation</a:t>
            </a:r>
          </a:p>
          <a:p xmlns:a="http://schemas.openxmlformats.org/drawingml/2006/main">
            <a:pPr algn="ctr">
              <a:defRPr sz="682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682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QK/√dₕ + b_geo on same-chain spatial graph</a:t>
            </a:r>
          </a:p>
          <a:p xmlns:a="http://schemas.openxmlformats.org/drawingml/2006/main">
            <a:pPr algn="ctr">
              <a:defRPr sz="682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682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residual → LN → SiLU FFN</a:t>
            </a:r>
          </a:p>
        </p:txBody>
      </p:sp>
      <p:sp>
        <p:nvSpPr>
          <p:cNvPr id="363" name="Zero-gated factorized fusion module">
            <a:extLst xmlns:a="http://schemas.openxmlformats.org/drawingml/2006/main">
              <a:ext uri="{FF2B5EF4-FFF2-40B4-BE49-F238E27FC236}">
                <a16:creationId xmlns:a16="http://schemas.microsoft.com/office/drawing/2014/main" id="{FDF43172-8DEB-438C-807E-CFB74585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762500"/>
            <a:ext cx="857250" cy="109537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1906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Zero-Gated</a:t>
            </a:r>
          </a:p>
          <a:p xmlns:a="http://schemas.openxmlformats.org/drawingml/2006/main">
            <a:pPr algn="ctr">
              <a:defRPr sz="705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Fusion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705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H̃ = H_dense</a:t>
            </a:r>
          </a:p>
          <a:p xmlns:a="http://schemas.openxmlformats.org/drawingml/2006/main">
            <a:pPr algn="ctr">
              <a:defRPr sz="705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+ tanh(g_geo)</a:t>
            </a:r>
          </a:p>
          <a:p xmlns:a="http://schemas.openxmlformats.org/drawingml/2006/main">
            <a:pPr algn="ctr">
              <a:defRPr sz="705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·(H_local − H_in)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705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g_geo = 0 init</a:t>
            </a:r>
          </a:p>
        </p:txBody>
      </p:sp>
      <p:sp>
        <p:nvSpPr>
          <p:cNvPr id="364" name="Stage decoder module title">
            <a:extLst xmlns:a="http://schemas.openxmlformats.org/drawingml/2006/main">
              <a:ext uri="{FF2B5EF4-FFF2-40B4-BE49-F238E27FC236}">
                <a16:creationId xmlns:a16="http://schemas.microsoft.com/office/drawing/2014/main" id="{FD89EB10-B600-4129-B6FD-B8D39D0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243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85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Stage Pair Decoder</a:t>
            </a:r>
          </a:p>
        </p:txBody>
      </p:sp>
      <p:sp>
        <p:nvSpPr>
          <p:cNvPr id="365" name="Stage decoder fused inputs">
            <a:extLst xmlns:a="http://schemas.openxmlformats.org/drawingml/2006/main">
              <a:ext uri="{FF2B5EF4-FFF2-40B4-BE49-F238E27FC236}">
                <a16:creationId xmlns:a16="http://schemas.microsoft.com/office/drawing/2014/main" id="{5740D968-ACE9-4277-8326-605612BF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116205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906">
            <a:solidFill>
              <a:srgbClr val="B7C3D0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H̃ᴬᵇ , H̃ᴬᵍ</a:t>
            </a:r>
          </a:p>
        </p:txBody>
      </p:sp>
      <p:sp>
        <p:nvSpPr>
          <p:cNvPr id="366" name="Stage symmetric pair decoder module">
            <a:extLst xmlns:a="http://schemas.openxmlformats.org/drawingml/2006/main">
              <a:ext uri="{FF2B5EF4-FFF2-40B4-BE49-F238E27FC236}">
                <a16:creationId xmlns:a16="http://schemas.microsoft.com/office/drawing/2014/main" id="{5C4F4B22-BFE5-47CC-8A61-233548DD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95875"/>
            <a:ext cx="1238250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906">
            <a:solidFill>
              <a:srgbClr val="E69A5C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Shared Symmetric</a:t>
            </a:r>
          </a:p>
          <a:p xmlns:a="http://schemas.openxmlformats.org/drawingml/2006/main">
            <a:pPr algn="ctr">
              <a:defRPr sz="76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Low-Rank Pair Decoder</a:t>
            </a:r>
          </a:p>
          <a:p xmlns:a="http://schemas.openxmlformats.org/drawingml/2006/main">
            <a:pPr algn="ctr">
              <a:defRPr sz="76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→ zᵢⱼ⁽ˡ⁾</a:t>
            </a:r>
          </a:p>
        </p:txBody>
      </p:sp>
      <p:sp>
        <p:nvSpPr>
          <p:cNvPr id="367" name="Stage decoder frozen note">
            <a:extLst xmlns:a="http://schemas.openxmlformats.org/drawingml/2006/main">
              <a:ext uri="{FF2B5EF4-FFF2-40B4-BE49-F238E27FC236}">
                <a16:creationId xmlns:a16="http://schemas.microsoft.com/office/drawing/2014/main" id="{87714991-F83D-4278-B686-15E6296C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38825"/>
            <a:ext cx="1276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E6C7B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5E6C7B"/>
                </a:solidFill>
                <a:latin typeface="Arial"/>
                <a:ea typeface="Arial"/>
                <a:cs typeface="Arial"/>
              </a:rPr>
              <a:t>stage logits are retained;</a:t>
            </a:r>
          </a:p>
          <a:p xmlns:a="http://schemas.openxmlformats.org/drawingml/2006/main">
            <a:pPr algn="ctr">
              <a:defRPr sz="660" b="0">
                <a:solidFill>
                  <a:srgbClr val="5E6C7B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5E6C7B"/>
                </a:solidFill>
                <a:latin typeface="Arial"/>
                <a:ea typeface="Arial"/>
                <a:cs typeface="Arial"/>
              </a:rPr>
              <a:t>λ_contact = 0 in the frozen</a:t>
            </a:r>
          </a:p>
          <a:p xmlns:a="http://schemas.openxmlformats.org/drawingml/2006/main">
            <a:pPr algn="ctr">
              <a:defRPr sz="660" b="0">
                <a:solidFill>
                  <a:srgbClr val="5E6C7B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5E6C7B"/>
                </a:solidFill>
                <a:latin typeface="Arial"/>
                <a:ea typeface="Arial"/>
                <a:cs typeface="Arial"/>
              </a:rPr>
              <a:t>content-only cross-attention</a:t>
            </a:r>
          </a:p>
        </p:txBody>
      </p:sp>
      <p:sp>
        <p:nvSpPr>
          <p:cNvPr id="368" name="Partner exchange module title">
            <a:extLst xmlns:a="http://schemas.openxmlformats.org/drawingml/2006/main">
              <a:ext uri="{FF2B5EF4-FFF2-40B4-BE49-F238E27FC236}">
                <a16:creationId xmlns:a16="http://schemas.microsoft.com/office/drawing/2014/main" id="{B795072A-78B3-404C-B952-A66504B0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14800"/>
            <a:ext cx="1800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Simultaneous Bidirectional</a:t>
            </a:r>
          </a:p>
          <a:p xmlns:a="http://schemas.openxmlformats.org/drawingml/2006/main">
            <a:pPr algn="ctr">
              <a:defRPr sz="84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Partner Exchange</a:t>
            </a:r>
          </a:p>
        </p:txBody>
      </p:sp>
      <p:sp>
        <p:nvSpPr>
          <p:cNvPr id="369" name="Antibody receives antigen cross-attention module">
            <a:extLst xmlns:a="http://schemas.openxmlformats.org/drawingml/2006/main">
              <a:ext uri="{FF2B5EF4-FFF2-40B4-BE49-F238E27FC236}">
                <a16:creationId xmlns:a16="http://schemas.microsoft.com/office/drawing/2014/main" id="{931D0E3A-008B-456A-B83E-549EF699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72000"/>
            <a:ext cx="1685925" cy="54292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906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72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Cross-Attention  Ab ← Ag</a:t>
            </a:r>
          </a:p>
          <a:p xmlns:a="http://schemas.openxmlformats.org/drawingml/2006/main">
            <a:pPr algn="ctr">
              <a:defRPr sz="728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728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content-only MHA + zero-init residual gate</a:t>
            </a:r>
          </a:p>
        </p:txBody>
      </p:sp>
      <p:sp>
        <p:nvSpPr>
          <p:cNvPr id="370" name="Antigen receives antibody cross-attention module">
            <a:extLst xmlns:a="http://schemas.openxmlformats.org/drawingml/2006/main">
              <a:ext uri="{FF2B5EF4-FFF2-40B4-BE49-F238E27FC236}">
                <a16:creationId xmlns:a16="http://schemas.microsoft.com/office/drawing/2014/main" id="{69777658-1B61-462B-87C8-51882FCA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48275"/>
            <a:ext cx="1685925" cy="54292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1906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728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Cross-Attention  Ag ← Ab</a:t>
            </a:r>
          </a:p>
          <a:p xmlns:a="http://schemas.openxmlformats.org/drawingml/2006/main">
            <a:pPr algn="ctr">
              <a:defRPr sz="728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728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content-only MHA + zero-init residual gate</a:t>
            </a:r>
          </a:p>
        </p:txBody>
      </p:sp>
      <p:sp>
        <p:nvSpPr>
          <p:cNvPr id="371" name="Partner exchange outputs">
            <a:extLst xmlns:a="http://schemas.openxmlformats.org/drawingml/2006/main">
              <a:ext uri="{FF2B5EF4-FFF2-40B4-BE49-F238E27FC236}">
                <a16:creationId xmlns:a16="http://schemas.microsoft.com/office/drawing/2014/main" id="{C3B3943D-1FD5-419D-BA33-EDAFA9E9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943600"/>
            <a:ext cx="1209675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906">
            <a:solidFill>
              <a:srgbClr val="B7C3D0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87739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Hᴬᵇ,ˡ  and  Hᴬᵍ,ˡ</a:t>
            </a:r>
          </a:p>
          <a:p xmlns:a="http://schemas.openxmlformats.org/drawingml/2006/main">
            <a:pPr algn="ctr">
              <a:defRPr sz="705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→ next block / final decoder</a:t>
            </a:r>
          </a:p>
        </p:txBody>
      </p:sp>
      <p:cxnSp>
        <p:nvCxnSpPr>
          <p:cNvPr id="516" name=""/>
          <p:cNvCxnSpPr>
            <a:stCxn xmlns:a="http://schemas.openxmlformats.org/drawingml/2006/main" id="360" idx="3"/>
            <a:endCxn xmlns:a="http://schemas.openxmlformats.org/drawingml/2006/main" id="361" idx="1"/>
          </p:cNvCxnSpPr>
          <p:nvPr/>
        </p:nvCxnSpPr>
        <p:spPr>
          <a:xfrm xmlns:a="http://schemas.openxmlformats.org/drawingml/2006/main" flipV="1">
            <a:off x="1323975" y="4786313"/>
            <a:ext cx="142875" cy="100013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5B8DEF"/>
            </a:solidFill>
            <a:prstDash val="solid"/>
            <a:headEnd type="triangle" w="sm" len="sm"/>
          </a:ln>
        </p:spPr>
      </p:cxnSp>
      <p:cxnSp>
        <p:nvCxnSpPr>
          <p:cNvPr id="517" name=""/>
          <p:cNvCxnSpPr>
            <a:stCxn xmlns:a="http://schemas.openxmlformats.org/drawingml/2006/main" id="360" idx="3"/>
            <a:endCxn xmlns:a="http://schemas.openxmlformats.org/drawingml/2006/main" id="362" idx="1"/>
          </p:cNvCxnSpPr>
          <p:nvPr/>
        </p:nvCxnSpPr>
        <p:spPr>
          <a:xfrm xmlns:a="http://schemas.openxmlformats.org/drawingml/2006/main">
            <a:off x="1323975" y="4886325"/>
            <a:ext cx="142875" cy="833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5BA66B"/>
            </a:solidFill>
            <a:prstDash val="solid"/>
            <a:headEnd type="triangle" w="sm" len="sm"/>
          </a:ln>
        </p:spPr>
      </p:cxnSp>
      <p:cxnSp>
        <p:nvCxnSpPr>
          <p:cNvPr id="518" name=""/>
          <p:cNvCxnSpPr>
            <a:stCxn xmlns:a="http://schemas.openxmlformats.org/drawingml/2006/main" id="361" idx="3"/>
            <a:endCxn xmlns:a="http://schemas.openxmlformats.org/drawingml/2006/main" id="363" idx="1"/>
          </p:cNvCxnSpPr>
          <p:nvPr/>
        </p:nvCxnSpPr>
        <p:spPr>
          <a:xfrm xmlns:a="http://schemas.openxmlformats.org/drawingml/2006/main">
            <a:off x="2905125" y="4786313"/>
            <a:ext cx="15240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8B72D1"/>
            </a:solidFill>
            <a:prstDash val="solid"/>
            <a:headEnd type="triangle" w="sm" len="sm"/>
          </a:ln>
        </p:spPr>
      </p:cxnSp>
      <p:cxnSp>
        <p:nvCxnSpPr>
          <p:cNvPr id="519" name=""/>
          <p:cNvCxnSpPr>
            <a:stCxn xmlns:a="http://schemas.openxmlformats.org/drawingml/2006/main" id="362" idx="3"/>
            <a:endCxn xmlns:a="http://schemas.openxmlformats.org/drawingml/2006/main" id="363" idx="1"/>
          </p:cNvCxnSpPr>
          <p:nvPr/>
        </p:nvCxnSpPr>
        <p:spPr>
          <a:xfrm xmlns:a="http://schemas.openxmlformats.org/drawingml/2006/main" flipV="1">
            <a:off x="2905125" y="5310188"/>
            <a:ext cx="15240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8B72D1"/>
            </a:solidFill>
            <a:prstDash val="solid"/>
            <a:headEnd type="triangle" w="sm" len="sm"/>
          </a:ln>
        </p:spPr>
      </p:cxnSp>
      <p:cxnSp>
        <p:nvCxnSpPr>
          <p:cNvPr id="520" name=""/>
          <p:cNvCxnSpPr>
            <a:stCxn xmlns:a="http://schemas.openxmlformats.org/drawingml/2006/main" id="363" idx="3"/>
            <a:endCxn xmlns:a="http://schemas.openxmlformats.org/drawingml/2006/main" id="365" idx="1"/>
          </p:cNvCxnSpPr>
          <p:nvPr/>
        </p:nvCxnSpPr>
        <p:spPr>
          <a:xfrm xmlns:a="http://schemas.openxmlformats.org/drawingml/2006/main" flipV="1">
            <a:off x="3914775" y="4729163"/>
            <a:ext cx="40957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E69A5C"/>
            </a:solidFill>
            <a:prstDash val="solid"/>
            <a:headEnd type="triangle" w="sm" len="sm"/>
          </a:ln>
        </p:spPr>
      </p:cxnSp>
      <p:cxnSp>
        <p:nvCxnSpPr>
          <p:cNvPr id="521" name=""/>
          <p:cNvCxnSpPr>
            <a:stCxn xmlns:a="http://schemas.openxmlformats.org/drawingml/2006/main" id="365" idx="2"/>
            <a:endCxn xmlns:a="http://schemas.openxmlformats.org/drawingml/2006/main" id="366" idx="0"/>
          </p:cNvCxnSpPr>
          <p:nvPr/>
        </p:nvCxnSpPr>
        <p:spPr>
          <a:xfrm xmlns:a="http://schemas.openxmlformats.org/drawingml/2006/main">
            <a:off x="4905375" y="49434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E69A5C"/>
            </a:solidFill>
            <a:prstDash val="solid"/>
            <a:headEnd type="triangle" w="sm" len="sm"/>
          </a:ln>
        </p:spPr>
      </p:cxnSp>
      <p:cxnSp>
        <p:nvCxnSpPr>
          <p:cNvPr id="522" name=""/>
          <p:cNvCxnSpPr>
            <a:stCxn xmlns:a="http://schemas.openxmlformats.org/drawingml/2006/main" id="363" idx="3"/>
            <a:endCxn xmlns:a="http://schemas.openxmlformats.org/drawingml/2006/main" id="369" idx="1"/>
          </p:cNvCxnSpPr>
          <p:nvPr/>
        </p:nvCxnSpPr>
        <p:spPr>
          <a:xfrm xmlns:a="http://schemas.openxmlformats.org/drawingml/2006/main" flipV="1">
            <a:off x="3914775" y="4843463"/>
            <a:ext cx="2009775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5B8DEF"/>
            </a:solidFill>
            <a:prstDash val="solid"/>
            <a:headEnd type="triangle" w="sm" len="sm"/>
          </a:ln>
        </p:spPr>
      </p:cxnSp>
      <p:cxnSp>
        <p:nvCxnSpPr>
          <p:cNvPr id="523" name=""/>
          <p:cNvCxnSpPr>
            <a:stCxn xmlns:a="http://schemas.openxmlformats.org/drawingml/2006/main" id="363" idx="3"/>
            <a:endCxn xmlns:a="http://schemas.openxmlformats.org/drawingml/2006/main" id="370" idx="1"/>
          </p:cNvCxnSpPr>
          <p:nvPr/>
        </p:nvCxnSpPr>
        <p:spPr>
          <a:xfrm xmlns:a="http://schemas.openxmlformats.org/drawingml/2006/main">
            <a:off x="3914775" y="5310188"/>
            <a:ext cx="2009775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5BA66B"/>
            </a:solidFill>
            <a:prstDash val="solid"/>
            <a:headEnd type="triangle" w="sm" len="sm"/>
          </a:ln>
        </p:spPr>
      </p:cxnSp>
      <p:cxnSp>
        <p:nvCxnSpPr>
          <p:cNvPr id="524" name=""/>
          <p:cNvCxnSpPr>
            <a:stCxn xmlns:a="http://schemas.openxmlformats.org/drawingml/2006/main" id="369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>
            <a:off x="6767513" y="5114925"/>
            <a:ext cx="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5B8DEF"/>
            </a:solidFill>
            <a:prstDash val="solid"/>
            <a:headEnd type="triangle" w="sm" len="sm"/>
          </a:ln>
        </p:spPr>
      </p:cxnSp>
      <p:cxnSp>
        <p:nvCxnSpPr>
          <p:cNvPr id="525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>
            <a:off x="6767513" y="57912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5BA66B"/>
            </a:solidFill>
            <a:prstDash val="solid"/>
            <a:headEnd type="triangle" w="sm" len="sm"/>
          </a:ln>
        </p:spPr>
      </p:cxnSp>
      <p:sp>
        <p:nvSpPr>
          <p:cNvPr id="382" name="Seed-matched fixed task router">
            <a:extLst xmlns:a="http://schemas.openxmlformats.org/drawingml/2006/main">
              <a:ext uri="{FF2B5EF4-FFF2-40B4-BE49-F238E27FC236}">
                <a16:creationId xmlns:a16="http://schemas.microsoft.com/office/drawing/2014/main" id="{F6578CF8-9A74-4EBB-A6CC-EE292C0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619500" cy="37147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1906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Seed-matched fixed router  r ∈ {17, 29, 43}</a:t>
            </a:r>
          </a:p>
          <a:p xmlns:a="http://schemas.openxmlformats.org/drawingml/2006/main">
            <a:pPr algn="ctr">
              <a:defRPr sz="7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contact + paratope ← Jᵣ    |    epitope ← Eᵣ</a:t>
            </a:r>
          </a:p>
        </p:txBody>
      </p:sp>
      <p:sp>
        <p:nvSpPr>
          <p:cNvPr id="383" name="Sequence-only deployment input boundary">
            <a:extLst xmlns:a="http://schemas.openxmlformats.org/drawingml/2006/main">
              <a:ext uri="{FF2B5EF4-FFF2-40B4-BE49-F238E27FC236}">
                <a16:creationId xmlns:a16="http://schemas.microsoft.com/office/drawing/2014/main" id="{A174B68D-DE44-41A6-B9E0-A8426564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28800"/>
            <a:ext cx="1733550" cy="15621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906">
            <a:solidFill>
              <a:srgbClr val="B7C3D0"/>
            </a:solidFill>
            <a:prstDash val="solid"/>
          </a:ln>
        </p:spPr>
        <p:txBody>
          <a:bodyPr xmlns:a="http://schemas.openxmlformats.org/drawingml/2006/main" wrap="square" lIns="85725" tIns="85725" rIns="85725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SEQUENCE-ONLY DEPLOYMENT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2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• PLM residue embeddings</a:t>
            </a:r>
          </a:p>
          <a:p xmlns:a="http://schemas.openxmlformats.org/drawingml/2006/main">
            <a:pPr algn="l">
              <a:defRPr sz="72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• chain-internal predicted N/CA/C</a:t>
            </a:r>
          </a:p>
          <a:p xmlns:a="http://schemas.openxmlformats.org/drawingml/2006/main">
            <a:pPr algn="l">
              <a:defRPr sz="72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• no cross-partner coordinates or true distances</a:t>
            </a:r>
          </a:p>
          <a:p xmlns:a="http://schemas.openxmlformats.org/drawingml/2006/main">
            <a:pPr algn="l">
              <a:defRPr sz="72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• no contact labels as model input</a:t>
            </a:r>
          </a:p>
        </p:txBody>
      </p:sp>
    </p:spTree>
    <p:extLst>
      <p:ext uri="{BB962C8B-B14F-4D97-AF65-F5344CB8AC3E}">
        <p14:creationId xmlns:p14="http://schemas.microsoft.com/office/powerpoint/2010/main" val="13668843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2026-08-31T16:07:20.9330000Z</dcterms:created>
  <dcterms:modified xsi:type="dcterms:W3CDTF">2026-08-31T16:07:20.9330000Z</dcterms:modified>
</coreProperties>
</file>