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41d6fda8c4d29" /><Relationship Type="http://schemas.openxmlformats.org/officeDocument/2006/relationships/extended-properties" Target="/docProps/app.xml" Id="R0cdb3d8792894c57" /><Relationship Type="http://schemas.openxmlformats.org/officeDocument/2006/relationships/officeDocument" Target="/ppt/presentation.xml" Id="Rf1f8ccea30d3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659e62cac4dff"/>
  </p:sldMasterIdLst>
  <p:notesMasterIdLst>
    <p:notesMasterId xmlns:r="http://schemas.openxmlformats.org/officeDocument/2006/relationships" r:id="Rd9b8f8720d654371"/>
  </p:notesMasterIdLst>
  <p:sldIdLst>
    <p:sldId xmlns:r="http://schemas.openxmlformats.org/officeDocument/2006/relationships" id="256" r:id="R808b8ed593fb4da6"/>
    <p:sldId xmlns:r="http://schemas.openxmlformats.org/officeDocument/2006/relationships" id="257" r:id="R0a6bacdf3d5b41e4"/>
    <p:sldId xmlns:r="http://schemas.openxmlformats.org/officeDocument/2006/relationships" id="258" r:id="Rdfa48fe9278e4d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85a72633b4f13" /><Relationship Type="http://schemas.openxmlformats.org/officeDocument/2006/relationships/slideMaster" Target="/ppt/slideMasters/slideMaster1.xml" Id="R799659e62cac4dff" /><Relationship Type="http://schemas.openxmlformats.org/officeDocument/2006/relationships/notesMaster" Target="/ppt/notesMasters/notesMaster1.xml" Id="Rd9b8f8720d654371" /><Relationship Type="http://schemas.openxmlformats.org/officeDocument/2006/relationships/presProps" Target="/ppt/presProps.xml" Id="Rcac6ca2cc1244478" /><Relationship Type="http://schemas.openxmlformats.org/officeDocument/2006/relationships/viewProps" Target="/ppt/viewProps.xml" Id="Rbdeaa47f6f5c4989" /><Relationship Type="http://schemas.openxmlformats.org/officeDocument/2006/relationships/tableStyles" Target="/ppt/tableStyles.xml" Id="R4d4f78af192c4652" /><Relationship Type="http://schemas.openxmlformats.org/officeDocument/2006/relationships/slide" Target="/ppt/slides/slide1.xml" Id="R808b8ed593fb4da6" /><Relationship Type="http://schemas.openxmlformats.org/officeDocument/2006/relationships/slide" Target="/ppt/slides/slide2.xml" Id="R0a6bacdf3d5b41e4" /><Relationship Type="http://schemas.openxmlformats.org/officeDocument/2006/relationships/slide" Target="/ppt/slides/slide3.xml" Id="Rdfa48fe9278e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b7af07983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dc7716920c4635" /><Relationship Type="http://schemas.openxmlformats.org/officeDocument/2006/relationships/notesMaster" Target="/ppt/notesMasters/notesMaster1.xml" Id="Rb844729d732445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96b77e66f4be8" /><Relationship Type="http://schemas.openxmlformats.org/officeDocument/2006/relationships/notesMaster" Target="/ppt/notesMasters/notesMaster1.xml" Id="Red2a41317cdd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58f687a269443c" /><Relationship Type="http://schemas.openxmlformats.org/officeDocument/2006/relationships/notesMaster" Target="/ppt/notesMasters/notesMaster1.xml" Id="R635828239763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
- Reference image supplied by the user in this conversation. Rebuilt as native PowerPoint shapes; the PNG was not used as a slide background.
- unflatten-ppt workflow reference: https://github.com/Feng-Y-28/unflatten-ppt (consulted for editable-PPT reconstruction principles: inspect, reconstruct with native objects, export/compare/iterate).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a713d8f9141d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2ef879dc24f51" /><Relationship Type="http://schemas.openxmlformats.org/officeDocument/2006/relationships/slideLayout" Target="/ppt/slideLayouts/slideLayout1.xml" Id="Rdf5ef9dae9bf4e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ef9dae9bf4e1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42f07eb9f4549" /><Relationship Type="http://schemas.openxmlformats.org/officeDocument/2006/relationships/image" Target="/ppt/media/image.png" Id="R5f88dc0d05e348a5" /><Relationship Type="http://schemas.openxmlformats.org/officeDocument/2006/relationships/notesSlide" Target="/ppt/notesSlides/notesSlide1.xml" Id="Rb668417a6a7a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0d342b9dc46ba" /><Relationship Type="http://schemas.openxmlformats.org/officeDocument/2006/relationships/notesSlide" Target="/ppt/notesSlides/notesSlide2.xml" Id="R6d9339f0420a4d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ab2da32524d1c" /><Relationship Type="http://schemas.openxmlformats.org/officeDocument/2006/relationships/notesSlide" Target="/ppt/notesSlides/notesSlide3.xml" Id="R3154caf293d941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8dc0d05e348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" y="0"/>
            <a:ext cx="115316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39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ED55BD-722B-46BE-8151-0B96CB3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128016"/>
            <a:ext cx="6601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(a) Overall Architecture (high-level blocks)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2D3F43-B2D6-4409-A90A-652E1473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4864"/>
            <a:ext cx="1673352" cy="4133088"/>
          </a:xfrm>
          <a:prstGeom xmlns:a="http://schemas.openxmlformats.org/drawingml/2006/main" prst="roundRect">
            <a:avLst>
              <a:gd name="adj" fmla="val 3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63A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673453-B08E-4B14-B3FB-2ABDAAFF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28016"/>
            <a:ext cx="14904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(b) Interleaved</a:t>
            </a:r>
            <a:endParaRPr sz="950"/>
          </a:p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Encoder Stack (L layers)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71D408-F22F-4343-B5B3-B24BC992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28016"/>
            <a:ext cx="325526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(c) Pair Decoder (Symmetric Low-Rank)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EB556E0-4838-4893-8641-061EB8ED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4315968"/>
            <a:ext cx="4096512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63A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BBA4C6-DE5F-4850-BCBD-3EB2400A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" y="4389120"/>
            <a:ext cx="39136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(d) Encoder Block (single chain)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1E9FA00-2D48-4C32-A7A7-23B3E94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4315968"/>
            <a:ext cx="4133088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3A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6CCA06-FCD0-4ACA-8AC7-B36D8776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389120"/>
            <a:ext cx="39502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3A8A3D"/>
                </a:solidFill>
                <a:latin typeface="Arial"/>
                <a:ea typeface="Arial"/>
                <a:cs typeface="Arial"/>
              </a:rPr>
              <a:t>(e) Bidirectional Cross-Attention (content-only)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22976E-3460-40CC-8148-2647A868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315968"/>
            <a:ext cx="3694176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7A3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48B8E52-149A-4D5D-BC1D-9E55DC37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389120"/>
            <a:ext cx="35112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(f) Task Heads from Pairwise Contact Map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EEE2CE-C2EE-4E69-B58F-40847C73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6692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sequence</a:t>
            </a:r>
            <a:endParaRPr sz="620"/>
          </a:p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(L_ab)</a:t>
            </a:r>
            <a:endParaRPr sz="6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305984-4A9C-4CEC-ADDB-952ED8A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832104"/>
            <a:ext cx="1216152" cy="155448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30">
                <a:solidFill>
                  <a:srgbClr val="111111"/>
                </a:solidFill>
                <a:latin typeface="Arial"/>
                <a:ea typeface="Arial"/>
                <a:cs typeface="Arial"/>
              </a:rPr>
              <a:t>EVQLVESGGGLVQPGGSLR...</a:t>
            </a:r>
            <a:endParaRPr sz="4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B28B8C-210E-4E56-9A2B-01DFA14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40487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sequence</a:t>
            </a:r>
            <a:endParaRPr sz="620"/>
          </a:p>
          <a:p xmlns:a="http://schemas.openxmlformats.org/drawingml/2006/main">
            <a:pPr marL="0" indent="0" algn="ctr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(L_ag)</a:t>
            </a:r>
            <a:endParaRPr sz="6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7E3A134-99F4-4313-8790-7757A6FF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2660904"/>
            <a:ext cx="1216152" cy="155448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30">
                <a:solidFill>
                  <a:srgbClr val="111111"/>
                </a:solidFill>
                <a:latin typeface="Arial"/>
                <a:ea typeface="Arial"/>
                <a:cs typeface="Arial"/>
              </a:rPr>
              <a:t>MKTIILASYIFCLVFADY...</a:t>
            </a:r>
            <a:endParaRPr sz="4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03DFA3-EFFC-4C25-B208-234459D6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676656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ESM-2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(650M)</a:t>
            </a:r>
            <a:endParaRPr sz="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4592A02-1DA3-4B90-8732-F9562512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1152144"/>
            <a:ext cx="713232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OpenDDE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(sequence → frames)</a:t>
            </a:r>
            <a:endParaRPr sz="5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804782-9946-4FB0-924A-F09218A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676656"/>
            <a:ext cx="10789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Projection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→ d_model (128)</a:t>
            </a:r>
            <a:endParaRPr sz="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8E2BFEC-D7DA-4C9A-95EF-6B07F85B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152144"/>
            <a:ext cx="7772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Frame/Geom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sz="5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92017F3-619C-4CFE-A338-BF19F90A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886968"/>
            <a:ext cx="365760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F9A81F7-688F-4B17-A6BB-3CC7533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909828"/>
            <a:ext cx="365760" cy="4160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2D605C-09AE-44E1-8746-1E0FA2CF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886968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B6EA0B1-79AC-45A3-B94C-EF5323FE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325880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033CD07-57D3-43B9-B3B1-393DC076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96012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4E80CF3-D0F4-4F35-A887-A5B12AC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886968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DBD6769-EA97-43A0-BC41-493FB5A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886968"/>
            <a:ext cx="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16A7E08-6EDF-4027-B54D-7C64DB5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325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1126D92-3CE1-4A7A-AC0C-DEE14E9D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1161288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E5552F2-6825-47FF-A960-CC4B8CF5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444752"/>
            <a:ext cx="10515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Intra-Chain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(independent params)</a:t>
            </a:r>
            <a:endParaRPr sz="6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DE705CB-E4EC-412C-88A6-006BFD51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1161288"/>
            <a:ext cx="0" cy="192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2AB9CCE-9C01-4E15-BAFF-2E6D6603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CBE3615-A120-438B-86F1-9C7D0C72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B78D891-CC3C-4C4C-902B-1FDBED62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4D67C5E-C572-4BF4-ABE2-CA8AB92D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20BD35E-0949-4DB1-A1EF-28FCF7B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5DA15EC-2649-49D5-812E-D07B860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5884C3B-F966-4D64-BE2D-D4B7819C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7711D87-346D-4A44-8997-38E227C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042416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9F6A681-22D6-4A99-84BD-DB99153A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86868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">
                <a:solidFill>
                  <a:srgbClr val="111111"/>
                </a:solidFill>
                <a:latin typeface="Arial"/>
                <a:ea typeface="Arial"/>
                <a:cs typeface="Arial"/>
              </a:rPr>
              <a:t>H^Ab ∈ R^(L_ab × d)</a:t>
            </a:r>
            <a:endParaRPr sz="53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48F16EE3-5A1F-4DAD-B661-ADB8868D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18488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356BD2B-6FE0-4D4F-8E6E-8C0D899E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097280"/>
            <a:ext cx="0" cy="5212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5966CA8-A0B2-4BA8-B995-A187066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60604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ESM-2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(650M)</a:t>
            </a:r>
            <a:endParaRPr sz="6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DCBCC1E-A7A1-4417-A892-8557C836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3081528"/>
            <a:ext cx="713232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OpenDDE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(sequence → frames)</a:t>
            </a:r>
            <a:endParaRPr sz="5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5C82058B-F6FB-43DE-8923-03919A5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606040"/>
            <a:ext cx="107899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Projection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→ d_model (128)</a:t>
            </a:r>
            <a:endParaRPr sz="6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71233C25-372B-42D4-BB72-7485B909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081528"/>
            <a:ext cx="7772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Frame/Geom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sz="55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5476AE0-B5BD-4C48-800E-07C6F42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38628"/>
            <a:ext cx="365760" cy="77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EAA442EF-B0ED-427B-B655-F5B81DE3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38628"/>
            <a:ext cx="365760" cy="5166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502A82CF-880F-434A-9783-DDA7A51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816352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F9740712-65DB-4FD2-B25F-FBA08B4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3255264"/>
            <a:ext cx="548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1792147-6B5A-4F77-8E02-F409A1A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8950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5F4E2CA-8BFD-429C-B692-5B65FD5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16352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E2F456B8-AA84-4E02-9F64-1E379CDE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2816352"/>
            <a:ext cx="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24CD9D92-2EA8-4F2D-AD94-A024A028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25526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D1BEC52-0D7E-4E43-82E8-6AA4F4F3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09067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0775A6A8-27D3-4786-9511-1B0C3D2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264408"/>
            <a:ext cx="10515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Intra-Chain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(independent params)</a:t>
            </a:r>
            <a:endParaRPr sz="6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AC7EBE1-B7EF-48BA-BB93-084EC152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090672"/>
            <a:ext cx="0" cy="173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8B7A8C5A-2FF5-49A7-8676-EDEB68A1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C6D6ED48-6D57-463A-AE10-094C4802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7EF0BA7A-44A1-468F-BD48-3E205516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FA2C6B1F-F6E3-43BE-9E08-73C8D38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FEC959C-BBF8-49E9-B3ED-A66AB8BC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4E3D9B7A-F79F-4551-B2D6-6791AC9C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05866F7F-84E2-4E32-A9ED-6ECC3EB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1C6BAB54-C3A0-4A08-A978-13A43420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7180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D472250C-403E-4DDE-AD97-E14804F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98064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30">
                <a:solidFill>
                  <a:srgbClr val="111111"/>
                </a:solidFill>
                <a:latin typeface="Arial"/>
                <a:ea typeface="Arial"/>
                <a:cs typeface="Arial"/>
              </a:rPr>
              <a:t>H^Ag ∈ R^(L_ag × d)</a:t>
            </a:r>
            <a:endParaRPr sz="53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5B7045D0-E4B3-4EC1-BDA7-39FE209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529584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0C852DE3-A5AC-4CA3-B0E3-CF8FC36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26664"/>
            <a:ext cx="0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447FD050-D2CE-4143-A928-B5FB199D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17904"/>
            <a:ext cx="868680" cy="1207008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EFFC"/>
          </a:solidFill>
          <a:ln xmlns:a="http://schemas.openxmlformats.org/drawingml/2006/main" w="10160">
            <a:solidFill>
              <a:srgbClr val="7B56B3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Interleaved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Bidirectional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640"/>
          </a:p>
          <a:p xmlns:a="http://schemas.openxmlformats.org/drawingml/2006/main">
            <a:pPr marL="0" indent="0" algn="ctr">
              <a:buNone/>
            </a:pPr>
            <a:r>
              <a:rPr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(× L layers)</a:t>
            </a:r>
            <a:endParaRPr sz="64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1A38EEB0-AE64-4D14-BF77-CF18263B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97280"/>
            <a:ext cx="45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36251D89-5429-430E-898E-FC140F5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097280"/>
            <a:ext cx="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B0EC1893-C557-42E0-AC15-64E711A8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26664"/>
            <a:ext cx="45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C9FA1C14-EC05-4733-A05D-CBAA583C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31720"/>
            <a:ext cx="0" cy="694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4B716CB7-E736-4536-BF5C-A37FF33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FF899585-F3BB-4EE8-98BB-6B5DE717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663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AE6B35BF-377E-4D48-BFB7-56CF5B5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ABBDF605-E258-4015-9FD6-B84A2115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45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7CFB320C-5D2B-47D5-B781-A63C7A8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E3D32031-A67F-449D-B1A8-E2FE61D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3AF6280E-4DF5-49BF-8270-234DE317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39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FDB8176F-BC15-4A6D-9D2F-8A0FC8F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1280160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362DCB51-A25D-48D9-AE59-A83D9C5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D475E65A-0A70-4E92-A19E-2B69A76E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663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EFFD7F01-8281-49E8-B416-3BD6EDD1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558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60DA1CDF-2E07-4D8B-8872-B971CC4A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45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43C045E8-79F8-4B05-B393-0BB3537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349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8637436A-9120-4BD4-8670-CA2F87A3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E538EF52-9E40-40DB-8EFF-933FF9C4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39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859238DF-61D9-4ABE-8AE9-A0432D46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2935224"/>
            <a:ext cx="68580" cy="96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D5445D36-05FF-4337-A7D0-CB65270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527" y="484505"/>
            <a:ext cx="91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10">
                <a:solidFill>
                  <a:srgbClr val="111111"/>
                </a:solidFill>
                <a:latin typeface="Arial"/>
                <a:ea typeface="Arial"/>
                <a:cs typeface="Arial"/>
              </a:rPr>
              <a:t>Ĥ^Ab ∈ R^(L_ab × d)</a:t>
            </a:r>
            <a:endParaRPr sz="510"/>
          </a:p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DFE2C730-5016-4A8A-B937-DC339EC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172968"/>
            <a:ext cx="91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10">
                <a:solidFill>
                  <a:srgbClr val="111111"/>
                </a:solidFill>
                <a:latin typeface="Arial"/>
                <a:ea typeface="Arial"/>
                <a:cs typeface="Arial"/>
              </a:rPr>
              <a:t>Ĥ^Ag ∈ R^(L_ag × d)</a:t>
            </a:r>
            <a:endParaRPr sz="510"/>
          </a:p>
        </p:txBody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B129C371-FB58-44E3-B560-09AFCD1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325880"/>
            <a:ext cx="155448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E587B142-EF5A-49B5-8189-A1298C6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331720"/>
            <a:ext cx="155448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A7C1B704-6085-4D2E-B181-585B3A33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3822192"/>
            <a:ext cx="6510528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C1CC"/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86C4F2B8-AB69-4530-9859-74A770FC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037CED75-A171-4134-AAEE-E8D1C01E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Ab pathway</a:t>
            </a:r>
            <a:endParaRPr sz="550"/>
          </a:p>
        </p:txBody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5D98D61D-FD65-4685-894C-0232DBDB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AA0EA1E-BC30-4B40-A93F-D5BFF38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 pathway</a:t>
            </a:r>
            <a:endParaRPr sz="550"/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AEE4CE6-BE2C-445C-A226-E2F7332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C"/>
          </a:solidFill>
          <a:ln xmlns:a="http://schemas.openxmlformats.org/drawingml/2006/main" w="6350">
            <a:solidFill>
              <a:srgbClr val="7B56B3"/>
            </a:solidFill>
            <a:prstDash val="solid"/>
          </a:ln>
        </p:spPr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344AE330-327B-47D6-97B5-4C13F66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/ interaction</a:t>
            </a:r>
            <a:endParaRPr sz="550"/>
          </a:p>
        </p:txBody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25338B4B-D252-42F5-82CF-04338BC8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3895344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6350">
            <a:solidFill>
              <a:srgbClr val="C99A2E"/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F73F33A8-6D3C-45AC-A28B-1B3BB890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</a:t>
            </a:r>
            <a:endParaRPr sz="550"/>
          </a:p>
        </p:txBody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D3677A28-1E4E-4E2E-AAF6-73F9FB0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8587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700"/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EBD346E0-8646-4C3A-B755-0C5DD54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877056"/>
            <a:ext cx="29260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</a:t>
            </a:r>
            <a:endParaRPr sz="520"/>
          </a:p>
        </p:txBody>
      </p:sp>
      <p:sp>
        <p:nvSpPr>
          <p:cNvPr id="106" name="Text 104">
            <a:extLst xmlns:a="http://schemas.openxmlformats.org/drawingml/2006/main">
              <a:ext uri="{FF2B5EF4-FFF2-40B4-BE49-F238E27FC236}">
                <a16:creationId xmlns:a16="http://schemas.microsoft.com/office/drawing/2014/main" id="{9D16BE79-1CCE-463D-B0AA-53AB0AD2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876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700"/>
          </a:p>
        </p:txBody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0F88DE88-71FE-4717-B1F1-90C1638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877056"/>
            <a:ext cx="54864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Gated residual</a:t>
            </a:r>
            <a:endParaRPr sz="520"/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A80E9AF2-75C8-4BB2-A2EA-E6617AB0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32A669F8-5BBD-4AA7-AFA6-BE7890B7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886200"/>
            <a:ext cx="38404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flow</a:t>
            </a:r>
            <a:endParaRPr sz="520"/>
          </a:p>
        </p:txBody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235DB02B-3A91-4BC5-9871-26C00AF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93192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4C362FEA-328F-4A4D-AE0A-EE48A31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86200"/>
            <a:ext cx="50292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Auxiliary / supervision only</a:t>
            </a:r>
            <a:endParaRPr sz="520"/>
          </a:p>
        </p:txBody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328D4458-D05D-4124-AA72-31CA984E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576072"/>
            <a:ext cx="1389888" cy="331012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B56B3"/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27CBB0C7-B699-4364-AE0D-C21B181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749808"/>
            <a:ext cx="47548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 b="1">
                <a:solidFill>
                  <a:srgbClr val="7B56B3"/>
                </a:solidFill>
                <a:latin typeface="Arial"/>
                <a:ea typeface="Arial"/>
                <a:cs typeface="Arial"/>
              </a:rPr>
              <a:t>Layer ℓ</a:t>
            </a:r>
            <a:endParaRPr sz="620"/>
          </a:p>
        </p:txBody>
      </p:sp>
      <p:sp>
        <p:nvSpPr>
          <p:cNvPr id="114" name="Text 112">
            <a:extLst xmlns:a="http://schemas.openxmlformats.org/drawingml/2006/main">
              <a:ext uri="{FF2B5EF4-FFF2-40B4-BE49-F238E27FC236}">
                <a16:creationId xmlns:a16="http://schemas.microsoft.com/office/drawing/2014/main" id="{89793E1D-308D-4327-89CB-9C96AAA2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749808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B56B3"/>
                </a:solidFill>
                <a:latin typeface="Arial"/>
                <a:ea typeface="Arial"/>
                <a:cs typeface="Arial"/>
              </a:rPr>
              <a:t>⋮</a:t>
            </a:r>
            <a:endParaRPr sz="900"/>
          </a:p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2AD00DC7-BE3E-4329-85E1-CDAB43E8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051560"/>
            <a:ext cx="877824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Encoder Block</a:t>
            </a:r>
            <a:endParaRPr sz="580"/>
          </a:p>
        </p:txBody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F07EE610-F0AD-472A-9499-7760346E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93268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0563073C-30E8-4C17-A723-C375E35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591056"/>
            <a:ext cx="987552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 ← Ag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(content-only)</a:t>
            </a:r>
            <a:endParaRPr sz="550"/>
          </a:p>
        </p:txBody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FB3E7AF5-B47A-4618-9170-E39D8CB5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435608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6914F51E-D82E-4625-BE05-CA645DE8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2249424"/>
            <a:ext cx="877824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Encoder Block</a:t>
            </a:r>
            <a:endParaRPr sz="580"/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0155B5FE-FE2B-4206-8330-DD496A6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48256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1" name="Text 119">
            <a:extLst xmlns:a="http://schemas.openxmlformats.org/drawingml/2006/main">
              <a:ext uri="{FF2B5EF4-FFF2-40B4-BE49-F238E27FC236}">
                <a16:creationId xmlns:a16="http://schemas.microsoft.com/office/drawing/2014/main" id="{8452EFF5-C90F-4D06-A02F-364A43CA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788920"/>
            <a:ext cx="987552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Cross-Attention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 ← Ab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(content-only)</a:t>
            </a:r>
            <a:endParaRPr sz="550"/>
          </a:p>
        </p:txBody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333C6A9D-95D3-4B72-9077-32989548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633472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C28C0A9D-5E9D-4059-A9CA-FFF2AE9B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273552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7B56B3"/>
                </a:solidFill>
                <a:latin typeface="Arial"/>
                <a:ea typeface="Arial"/>
                <a:cs typeface="Arial"/>
              </a:rPr>
              <a:t>⋮</a:t>
            </a:r>
            <a:endParaRPr sz="900"/>
          </a:p>
        </p:txBody>
      </p:sp>
      <p:sp>
        <p:nvSpPr>
          <p:cNvPr id="124" name="Text 122">
            <a:extLst xmlns:a="http://schemas.openxmlformats.org/drawingml/2006/main">
              <a:ext uri="{FF2B5EF4-FFF2-40B4-BE49-F238E27FC236}">
                <a16:creationId xmlns:a16="http://schemas.microsoft.com/office/drawing/2014/main" id="{4F4B31CF-B67A-4822-85EE-93070284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371246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 b="1">
                <a:solidFill>
                  <a:srgbClr val="7B56B3"/>
                </a:solidFill>
                <a:latin typeface="Arial"/>
                <a:ea typeface="Arial"/>
                <a:cs typeface="Arial"/>
              </a:rPr>
              <a:t>Layer 1</a:t>
            </a:r>
            <a:endParaRPr sz="620"/>
          </a:p>
        </p:txBody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7EACA35E-1662-4EFC-A95D-A4A919B0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033272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none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68408B40-C8A3-4486-92FB-B9CF563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033272"/>
            <a:ext cx="0" cy="2240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none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DEE27A81-919F-461C-8887-95931F81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273552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2463A6"/>
            </a:solidFill>
            <a:prstDash val="solid"/>
            <a:headEnd type="none"/>
            <a:tailEnd type="triangle"/>
          </a:ln>
        </p:spPr>
      </p:sp>
      <p:sp>
        <p:nvSpPr>
          <p:cNvPr id="128" name="Text 126">
            <a:extLst xmlns:a="http://schemas.openxmlformats.org/drawingml/2006/main">
              <a:ext uri="{FF2B5EF4-FFF2-40B4-BE49-F238E27FC236}">
                <a16:creationId xmlns:a16="http://schemas.microsoft.com/office/drawing/2014/main" id="{568000CA-2670-4B76-8636-AECCCEB7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11480"/>
            <a:ext cx="2148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2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Input:  Ĥ^Ab ∈ R^(L_ab × d)    Ĥ^Ag ∈ R^(L_ag × d)</a:t>
            </a:r>
            <a:endParaRPr sz="620"/>
          </a:p>
        </p:txBody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F2A3126D-CD69-4081-BB9F-6DDB437B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768096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Ab residue i</a:t>
            </a:r>
            <a:endParaRPr sz="580"/>
          </a:p>
        </p:txBody>
      </p:sp>
      <p:sp>
        <p:nvSpPr>
          <p:cNvPr id="130" name="Text 128">
            <a:extLst xmlns:a="http://schemas.openxmlformats.org/drawingml/2006/main">
              <a:ext uri="{FF2B5EF4-FFF2-40B4-BE49-F238E27FC236}">
                <a16:creationId xmlns:a16="http://schemas.microsoft.com/office/drawing/2014/main" id="{56847948-B3C5-435A-AD61-BBFA51E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640080"/>
            <a:ext cx="4023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h_i^Ab</a:t>
            </a:r>
            <a:endParaRPr sz="600"/>
          </a:p>
        </p:txBody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81B08706-97D1-40BA-963D-196FC856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EC091321-EB10-4989-A608-8B24901B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494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60E9CF5C-DAEA-4D98-B449-F5150312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989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3FD73064-50BD-4599-BC35-6B6B4CCB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2483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39FD8D96-5B3D-4569-8D58-17CA84A7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978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136" name="Text 134">
            <a:extLst xmlns:a="http://schemas.openxmlformats.org/drawingml/2006/main">
              <a:ext uri="{FF2B5EF4-FFF2-40B4-BE49-F238E27FC236}">
                <a16:creationId xmlns:a16="http://schemas.microsoft.com/office/drawing/2014/main" id="{BA2CD5D0-4FB9-4E79-9682-6383AABD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768096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Ag residue j</a:t>
            </a:r>
            <a:endParaRPr sz="580"/>
          </a:p>
        </p:txBody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67263E14-18F7-45F2-976C-1AC739D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640080"/>
            <a:ext cx="40233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111111"/>
                </a:solidFill>
                <a:latin typeface="Arial"/>
                <a:ea typeface="Arial"/>
                <a:cs typeface="Arial"/>
              </a:rPr>
              <a:t>h_j^Ag</a:t>
            </a:r>
            <a:endParaRPr sz="600"/>
          </a:p>
        </p:txBody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47E5F2ED-17DD-4363-A08C-BFA079C6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4F92B252-5711-4DC7-A920-70156051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686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692E60A9-D374-490D-95CA-C8758EA6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181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D32A2DBD-4DF6-43F6-AE5E-4DDEDA50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675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0D662F75-178B-487D-9D3D-0C81F22D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70" y="822960"/>
            <a:ext cx="6400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143" name="Text 141">
            <a:extLst xmlns:a="http://schemas.openxmlformats.org/drawingml/2006/main">
              <a:ext uri="{FF2B5EF4-FFF2-40B4-BE49-F238E27FC236}">
                <a16:creationId xmlns:a16="http://schemas.microsoft.com/office/drawing/2014/main" id="{B2793FA0-3324-4A58-A619-7160B99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q_i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(d_p)</a:t>
            </a:r>
            <a:endParaRPr sz="580"/>
          </a:p>
        </p:txBody>
      </p:sp>
      <p:sp>
        <p:nvSpPr>
          <p:cNvPr id="144" name="Text 142">
            <a:extLst xmlns:a="http://schemas.openxmlformats.org/drawingml/2006/main">
              <a:ext uri="{FF2B5EF4-FFF2-40B4-BE49-F238E27FC236}">
                <a16:creationId xmlns:a16="http://schemas.microsoft.com/office/drawing/2014/main" id="{F4C3CD4E-FB2F-443F-A520-767B46E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u_i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80"/>
          </a:p>
        </p:txBody>
      </p:sp>
      <p:sp>
        <p:nvSpPr>
          <p:cNvPr id="145" name="Text 143">
            <a:extLst xmlns:a="http://schemas.openxmlformats.org/drawingml/2006/main">
              <a:ext uri="{FF2B5EF4-FFF2-40B4-BE49-F238E27FC236}">
                <a16:creationId xmlns:a16="http://schemas.microsoft.com/office/drawing/2014/main" id="{DA714C20-34B7-4B50-9BD6-FDC3126B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k_j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(d_p)</a:t>
            </a:r>
            <a:endParaRPr sz="580"/>
          </a:p>
        </p:txBody>
      </p:sp>
      <p:sp>
        <p:nvSpPr>
          <p:cNvPr id="146" name="Text 144">
            <a:extLst xmlns:a="http://schemas.openxmlformats.org/drawingml/2006/main">
              <a:ext uri="{FF2B5EF4-FFF2-40B4-BE49-F238E27FC236}">
                <a16:creationId xmlns:a16="http://schemas.microsoft.com/office/drawing/2014/main" id="{3854EBB7-6846-43FA-8941-E248254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1060704"/>
            <a:ext cx="274320" cy="347472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v_j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80"/>
          </a:p>
        </p:txBody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6CC3BAA0-7C07-415B-8E1B-98C5AEAF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905256"/>
            <a:ext cx="18288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C180998C-36F5-4967-A90D-3A6222A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905256"/>
            <a:ext cx="274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176D4AEC-3230-4351-87F2-064B08BF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905256"/>
            <a:ext cx="2560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F5F0E6E9-63CB-4B19-BFD2-EFC28A9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905256"/>
            <a:ext cx="27432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1" name="Text 149">
            <a:extLst xmlns:a="http://schemas.openxmlformats.org/drawingml/2006/main">
              <a:ext uri="{FF2B5EF4-FFF2-40B4-BE49-F238E27FC236}">
                <a16:creationId xmlns:a16="http://schemas.microsoft.com/office/drawing/2014/main" id="{7A3AB901-1D62-44C1-95FF-BB2CDD96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155448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800"/>
          </a:p>
        </p:txBody>
      </p:sp>
      <p:sp>
        <p:nvSpPr>
          <p:cNvPr id="152" name="Text 150">
            <a:extLst xmlns:a="http://schemas.openxmlformats.org/drawingml/2006/main">
              <a:ext uri="{FF2B5EF4-FFF2-40B4-BE49-F238E27FC236}">
                <a16:creationId xmlns:a16="http://schemas.microsoft.com/office/drawing/2014/main" id="{7DABC7FA-B9AA-4044-8F08-410D6E4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1627632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/√d_p</a:t>
            </a:r>
            <a:endParaRPr sz="550"/>
          </a:p>
        </p:txBody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7EE54B75-96BF-44AD-936D-E8FC07FD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408176"/>
            <a:ext cx="621792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7F8B4472-2013-43B0-8428-E8BBFF65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408176"/>
            <a:ext cx="530352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5" name="Text 153">
            <a:extLst xmlns:a="http://schemas.openxmlformats.org/drawingml/2006/main">
              <a:ext uri="{FF2B5EF4-FFF2-40B4-BE49-F238E27FC236}">
                <a16:creationId xmlns:a16="http://schemas.microsoft.com/office/drawing/2014/main" id="{C997A573-F787-41E8-9773-59448AE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6" name="Text 154">
            <a:extLst xmlns:a="http://schemas.openxmlformats.org/drawingml/2006/main">
              <a:ext uri="{FF2B5EF4-FFF2-40B4-BE49-F238E27FC236}">
                <a16:creationId xmlns:a16="http://schemas.microsoft.com/office/drawing/2014/main" id="{DD41A81C-86FF-4BFA-9864-E690C7AE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7" name="Text 155">
            <a:extLst xmlns:a="http://schemas.openxmlformats.org/drawingml/2006/main">
              <a:ext uri="{FF2B5EF4-FFF2-40B4-BE49-F238E27FC236}">
                <a16:creationId xmlns:a16="http://schemas.microsoft.com/office/drawing/2014/main" id="{EDF008F6-9A20-47AF-BAD8-F5F19C4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1901952"/>
            <a:ext cx="155448" cy="1554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800"/>
          </a:p>
        </p:txBody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D11ED806-3DD1-433B-90C3-F040520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1719072"/>
            <a:ext cx="41148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412D6243-CE9D-4388-9EEC-9D5AA52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20BBC749-1905-4D1B-93E2-7636AD13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DAB1F610-A8F0-4EAC-B38A-D53DB1B7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1408176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65CDE5CE-E1A9-4ACD-9B9D-860C509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75104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F09FA4D5-128A-416F-B287-81BDEE8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975104"/>
            <a:ext cx="6675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4" name="Text 162">
            <a:extLst xmlns:a="http://schemas.openxmlformats.org/drawingml/2006/main">
              <a:ext uri="{FF2B5EF4-FFF2-40B4-BE49-F238E27FC236}">
                <a16:creationId xmlns:a16="http://schemas.microsoft.com/office/drawing/2014/main" id="{184E4017-20C2-4F71-9A16-46E0622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240280"/>
            <a:ext cx="219456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(1)</a:t>
            </a:r>
            <a:endParaRPr sz="550"/>
          </a:p>
        </p:txBody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68028BE-D453-4BA8-9E19-830FB563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205740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66" name="Text 164">
            <a:extLst xmlns:a="http://schemas.openxmlformats.org/drawingml/2006/main">
              <a:ext uri="{FF2B5EF4-FFF2-40B4-BE49-F238E27FC236}">
                <a16:creationId xmlns:a16="http://schemas.microsoft.com/office/drawing/2014/main" id="{54D82895-62EE-4D2C-A6B8-415CD46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395728"/>
            <a:ext cx="713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φ(h_i^Ab, h_j^Ag)</a:t>
            </a:r>
            <a:endParaRPr sz="560"/>
          </a:p>
        </p:txBody>
      </p:sp>
      <p:sp>
        <p:nvSpPr>
          <p:cNvPr id="167" name="Text 165">
            <a:extLst xmlns:a="http://schemas.openxmlformats.org/drawingml/2006/main">
              <a:ext uri="{FF2B5EF4-FFF2-40B4-BE49-F238E27FC236}">
                <a16:creationId xmlns:a16="http://schemas.microsoft.com/office/drawing/2014/main" id="{2CC30228-E71C-4DE1-B806-75790A7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2395728"/>
            <a:ext cx="7132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φ(h_j^Ag, h_i^Ab)</a:t>
            </a:r>
            <a:endParaRPr sz="560"/>
          </a:p>
        </p:txBody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DE29F7EC-A3DC-4BBC-A53D-45B44EB3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5740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1FD14064-DC4E-4E6F-BEFF-0E11F5B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651760"/>
            <a:ext cx="658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A87C8E6E-2197-4AAC-AE9D-C956E88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2057400"/>
            <a:ext cx="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23A6C19D-9BBA-4AD2-8BEA-DB67AED1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2651760"/>
            <a:ext cx="5303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2" name="Text 170">
            <a:extLst xmlns:a="http://schemas.openxmlformats.org/drawingml/2006/main">
              <a:ext uri="{FF2B5EF4-FFF2-40B4-BE49-F238E27FC236}">
                <a16:creationId xmlns:a16="http://schemas.microsoft.com/office/drawing/2014/main" id="{C08BE4DA-A040-42BC-B223-D772B5FF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889504"/>
            <a:ext cx="932688" cy="2286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Average (symmetry)</a:t>
            </a:r>
            <a:endParaRPr sz="580"/>
          </a:p>
        </p:txBody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60D49ABF-22E1-4829-B8E4-B29483E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651760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87432113-F079-46F1-B3C7-06044F6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99923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5" name="Text 173">
            <a:extLst xmlns:a="http://schemas.openxmlformats.org/drawingml/2006/main">
              <a:ext uri="{FF2B5EF4-FFF2-40B4-BE49-F238E27FC236}">
                <a16:creationId xmlns:a16="http://schemas.microsoft.com/office/drawing/2014/main" id="{C643BDFA-D693-4CF7-B110-B6A34BC9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218688"/>
            <a:ext cx="5943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z_ij (logit)</a:t>
            </a:r>
            <a:endParaRPr sz="550"/>
          </a:p>
        </p:txBody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6CAF674C-C6B8-45F4-9322-1228DDA2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108960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7" name="Text 175">
            <a:extLst xmlns:a="http://schemas.openxmlformats.org/drawingml/2006/main">
              <a:ext uri="{FF2B5EF4-FFF2-40B4-BE49-F238E27FC236}">
                <a16:creationId xmlns:a16="http://schemas.microsoft.com/office/drawing/2014/main" id="{028B1E88-F9A1-4DBF-BAD1-E57B2ECA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429000"/>
            <a:ext cx="73152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Sigmoid</a:t>
            </a:r>
            <a:endParaRPr sz="580"/>
          </a:p>
        </p:txBody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4714418D-D95A-4AF3-8B66-7D1A130F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310128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79" name="Text 177">
            <a:extLst xmlns:a="http://schemas.openxmlformats.org/drawingml/2006/main">
              <a:ext uri="{FF2B5EF4-FFF2-40B4-BE49-F238E27FC236}">
                <a16:creationId xmlns:a16="http://schemas.microsoft.com/office/drawing/2014/main" id="{DFD7B39D-AB47-46B8-AACE-77945FF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703320"/>
            <a:ext cx="7772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p_ij (contact prob.)</a:t>
            </a:r>
            <a:endParaRPr sz="540"/>
          </a:p>
        </p:txBody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81944043-D47F-4B4F-9F90-6D2DDDE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648456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81" name="Text 179">
            <a:extLst xmlns:a="http://schemas.openxmlformats.org/drawingml/2006/main">
              <a:ext uri="{FF2B5EF4-FFF2-40B4-BE49-F238E27FC236}">
                <a16:creationId xmlns:a16="http://schemas.microsoft.com/office/drawing/2014/main" id="{4E72F951-84A9-411E-9C1A-17A6E391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14" y="3931793"/>
            <a:ext cx="14630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Low-rank dims:  d_p = 128;     d = 128</a:t>
            </a:r>
            <a:endParaRPr sz="520"/>
          </a:p>
        </p:txBody>
      </p: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9A34B516-3426-47BE-818D-2A81DA7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583" y="2962656"/>
            <a:ext cx="1051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Pairwise Contact Map</a:t>
            </a:r>
            <a:endParaRPr sz="600"/>
          </a:p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 ∈ [0,1]^(L_ab × L_ag)</a:t>
            </a:r>
            <a:endParaRPr sz="600"/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EA295D0E-F85C-45E7-B13C-FB22BEA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660D70FA-A2DE-4575-9DCB-F42437C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AF3DC17C-EEA6-4A9B-90EA-8B67395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26FBF8C8-3F3D-40A1-A222-7E2AB83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D1CEBBF0-A621-4C09-968C-B51F464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11071F89-F8C0-4B24-A7A7-E9DFDE5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D950EEC1-B09D-48AF-AAD1-42035863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B7E9A8FB-6DDC-4FE3-BAB2-BBF092E3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20040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D34BBB6E-1CF5-430B-A761-7704A786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43643180-2264-45AD-A3FB-5FD2529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A84CE320-E241-4AFA-BE8E-7AF1BA9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FB4F5CE0-8C05-4090-BA92-0A0B762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256420B5-DFA0-44A3-A636-A719379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0D8E590B-C0AF-4297-A867-B7CAE43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C4E818BE-51D7-46EB-B3DF-DD9947DB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539255BE-9404-44C1-93CA-AA4A2F8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30555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B4FA3EFC-BEA8-45C9-9F14-B08F6F1A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A82D3412-A9C9-4F03-AB59-98F6C3B0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2D5D54FA-1836-4ECD-B91C-2859801A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401AF8CF-7455-4F4A-8822-A8B7005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A482E1D3-7141-45AA-9328-DE7A068F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69FCA3E0-521B-4F4C-A2B2-752EA738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458FB9E7-7551-4EF4-8106-E024BB2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DE57EF15-044D-4933-B6A7-3FC1277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410712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C211FF3A-F7CA-453C-A32D-268EFD5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D690ABE3-08EF-4FAE-A16A-2A12F55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977ABB36-7606-499E-8883-04A89EE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054DD643-B323-456F-B616-13AE60D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AB51FC46-F3C6-4169-9A4E-0490E61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171B5824-056A-4B0D-A60D-7FF2800F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E3A2560A-CAC4-4A52-9552-D4D7CCE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E030700C-6C38-4747-99F6-343420F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515868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27B6448D-4B4B-44CD-B19E-514A8940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0C9839F0-F11A-4A12-B6E4-6B182FE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EB8D7D19-4AFE-4215-99FD-5C8D617C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13EF90FC-F2E9-4A76-AC61-6DAD2FB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6A3D051C-9A39-453F-967E-F031483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8527A30B-2A9E-491D-BED1-255256A4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06C4DEEF-38BC-464B-9A90-774A5B8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5417EDA8-CF75-4705-B11E-4FDEC29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621024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7B777101-0601-462F-9687-C601E5B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9B3D219C-5972-4E82-97C8-21750E2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B583729D-74C0-4BA5-98BC-5988480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E9ECD92D-5E06-4BA7-9AC5-7A9E9EB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D2FB00DB-02E0-46A9-ABAA-ACAC92BD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A58C8585-0195-4D26-A3D2-8A68ED9D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7AF7FE81-8660-4CA6-896B-0D993B3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E2A32B2B-F90B-4FA0-B369-54DF6A6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726180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2332705F-254F-40CE-843A-F73D4121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915B60CF-8769-4959-A1A6-F60DA48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55798042-E7E7-4000-AB93-FD80B38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64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2442158-C54D-4B7A-A30E-6DB166B4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8867F9AD-C6C3-415C-930E-A947E36F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ACC55612-F538-4EC1-96CB-A26F4E0C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32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E58B8CEA-E99C-465D-BFAF-9B370394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7EC169D4-593C-4E5E-9D2F-6FAF89C4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44" y="3831336"/>
            <a:ext cx="105156" cy="105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5E279CE2-28CD-4BCA-866F-F2D68846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063240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500"/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5B0AB153-4088-461F-B0AA-297BE55A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332720" y="3355848"/>
            <a:ext cx="13716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500"/>
          </a:p>
        </p:txBody>
      </p:sp>
      <p:sp>
        <p:nvSpPr>
          <p:cNvPr id="241" name="Text 239">
            <a:extLst xmlns:a="http://schemas.openxmlformats.org/drawingml/2006/main">
              <a:ext uri="{FF2B5EF4-FFF2-40B4-BE49-F238E27FC236}">
                <a16:creationId xmlns:a16="http://schemas.microsoft.com/office/drawing/2014/main" id="{C1AD0B1B-8498-4759-8496-0751626A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4882896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hidden states</a:t>
            </a:r>
            <a:endParaRPr sz="570"/>
          </a:p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X ∈ R^(L × d)</a:t>
            </a:r>
            <a:endParaRPr sz="570"/>
          </a:p>
        </p:txBody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A9A0CF09-DF68-4DF9-B7E1-DE5DBFCF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47488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3" name="Text 241">
            <a:extLst xmlns:a="http://schemas.openxmlformats.org/drawingml/2006/main">
              <a:ext uri="{FF2B5EF4-FFF2-40B4-BE49-F238E27FC236}">
                <a16:creationId xmlns:a16="http://schemas.microsoft.com/office/drawing/2014/main" id="{7DAD3CD7-644E-479B-B0D2-CA03DC05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5029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LayerNorm</a:t>
            </a:r>
            <a:endParaRPr sz="570"/>
          </a:p>
        </p:txBody>
      </p:sp>
      <p:sp>
        <p:nvSpPr>
          <p:cNvPr id="244" name="Text 242">
            <a:extLst xmlns:a="http://schemas.openxmlformats.org/drawingml/2006/main">
              <a:ext uri="{FF2B5EF4-FFF2-40B4-BE49-F238E27FC236}">
                <a16:creationId xmlns:a16="http://schemas.microsoft.com/office/drawing/2014/main" id="{A2C03D25-B145-4A0F-B84C-D1FF7BF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791456"/>
            <a:ext cx="56692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(d → 4d)</a:t>
            </a:r>
            <a:endParaRPr sz="570"/>
          </a:p>
        </p:txBody>
      </p:sp>
      <p:sp>
        <p:nvSpPr>
          <p:cNvPr id="245" name="Text 243">
            <a:extLst xmlns:a="http://schemas.openxmlformats.org/drawingml/2006/main">
              <a:ext uri="{FF2B5EF4-FFF2-40B4-BE49-F238E27FC236}">
                <a16:creationId xmlns:a16="http://schemas.microsoft.com/office/drawing/2014/main" id="{C40FAD91-9C79-4AC7-BE1E-8CBF2724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791456"/>
            <a:ext cx="4572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GELU</a:t>
            </a:r>
            <a:endParaRPr sz="570"/>
          </a:p>
        </p:txBody>
      </p:sp>
      <p:sp>
        <p:nvSpPr>
          <p:cNvPr id="246" name="Text 244">
            <a:extLst xmlns:a="http://schemas.openxmlformats.org/drawingml/2006/main">
              <a:ext uri="{FF2B5EF4-FFF2-40B4-BE49-F238E27FC236}">
                <a16:creationId xmlns:a16="http://schemas.microsoft.com/office/drawing/2014/main" id="{9C20D541-B548-4174-B894-C06F6201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791456"/>
            <a:ext cx="56692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(4d → d)</a:t>
            </a:r>
            <a:endParaRPr sz="570"/>
          </a:p>
        </p:txBody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44927205-D79C-4F58-BC14-391F097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6048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F3AB4D7F-C049-4C5C-B47D-9378F66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495604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516A9350-9537-4541-B20C-22906F1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495604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0" name="Text 248">
            <a:extLst xmlns:a="http://schemas.openxmlformats.org/drawingml/2006/main">
              <a:ext uri="{FF2B5EF4-FFF2-40B4-BE49-F238E27FC236}">
                <a16:creationId xmlns:a16="http://schemas.microsoft.com/office/drawing/2014/main" id="{A25B5ABE-B976-4BF9-9764-4079E0A5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358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424242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  <a:endParaRPr sz="1200"/>
          </a:p>
        </p:txBody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EF03D758-2F5F-47E8-9B40-2164FB44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956048"/>
            <a:ext cx="731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79B4DB15-5847-4F72-8892-4D74512A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4956048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EBB7B50F-E9CD-4B71-93BE-2A3DE074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358384"/>
            <a:ext cx="365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33CB3ED8-447A-4322-B34C-D8F760F0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2688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5" name="Text 253">
            <a:extLst xmlns:a="http://schemas.openxmlformats.org/drawingml/2006/main">
              <a:ext uri="{FF2B5EF4-FFF2-40B4-BE49-F238E27FC236}">
                <a16:creationId xmlns:a16="http://schemas.microsoft.com/office/drawing/2014/main" id="{55185800-132A-4E01-9050-1B6FA8E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5650992"/>
            <a:ext cx="1051560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frame features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(N/CA/C)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RBF distances,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orientations,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seq. offset, chain id</a:t>
            </a:r>
            <a:endParaRPr sz="540"/>
          </a:p>
        </p:txBody>
      </p:sp>
      <p:sp>
        <p:nvSpPr>
          <p:cNvPr id="256" name="Text 254">
            <a:extLst xmlns:a="http://schemas.openxmlformats.org/drawingml/2006/main">
              <a:ext uri="{FF2B5EF4-FFF2-40B4-BE49-F238E27FC236}">
                <a16:creationId xmlns:a16="http://schemas.microsoft.com/office/drawing/2014/main" id="{32E7CD07-9866-424E-BD05-202B4EC9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742432"/>
            <a:ext cx="54864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(d_g → d)</a:t>
            </a:r>
            <a:endParaRPr sz="560"/>
          </a:p>
        </p:txBody>
      </p:sp>
      <p:sp>
        <p:nvSpPr>
          <p:cNvPr id="257" name="Text 255">
            <a:extLst xmlns:a="http://schemas.openxmlformats.org/drawingml/2006/main">
              <a:ext uri="{FF2B5EF4-FFF2-40B4-BE49-F238E27FC236}">
                <a16:creationId xmlns:a16="http://schemas.microsoft.com/office/drawing/2014/main" id="{0BD9A1E0-6E1E-4D57-8F73-B67ACC08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42432"/>
            <a:ext cx="45720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GELU</a:t>
            </a:r>
            <a:endParaRPr sz="560"/>
          </a:p>
        </p:txBody>
      </p:sp>
      <p:sp>
        <p:nvSpPr>
          <p:cNvPr id="258" name="Text 256">
            <a:extLst xmlns:a="http://schemas.openxmlformats.org/drawingml/2006/main">
              <a:ext uri="{FF2B5EF4-FFF2-40B4-BE49-F238E27FC236}">
                <a16:creationId xmlns:a16="http://schemas.microsoft.com/office/drawing/2014/main" id="{FA301C50-D287-4CE1-A829-0196E51B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42432"/>
            <a:ext cx="50292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 → d)</a:t>
            </a:r>
            <a:endParaRPr sz="560"/>
          </a:p>
        </p:txBody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2D8E6A18-8B1D-4442-A7A2-005FA7B6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907024"/>
            <a:ext cx="301752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BFB62E90-E8F2-4EA2-AE79-75C7205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90702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406E3FDA-ED54-4B96-BA0A-3A61DD25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90702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2" name="Text 260">
            <a:extLst xmlns:a="http://schemas.openxmlformats.org/drawingml/2006/main">
              <a:ext uri="{FF2B5EF4-FFF2-40B4-BE49-F238E27FC236}">
                <a16:creationId xmlns:a16="http://schemas.microsoft.com/office/drawing/2014/main" id="{1E4A30AC-06F2-4BED-9242-1B788DFC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74243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0160">
            <a:solidFill>
              <a:srgbClr val="BD5364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263" name="Text 261">
            <a:extLst xmlns:a="http://schemas.openxmlformats.org/drawingml/2006/main">
              <a:ext uri="{FF2B5EF4-FFF2-40B4-BE49-F238E27FC236}">
                <a16:creationId xmlns:a16="http://schemas.microsoft.com/office/drawing/2014/main" id="{756F0D37-F1FA-43AD-8D69-523B62FD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6163056"/>
            <a:ext cx="292608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6FA"/>
          </a:solidFill>
          <a:ln xmlns:a="http://schemas.openxmlformats.org/drawingml/2006/main" w="10160">
            <a:solidFill>
              <a:srgbClr val="BD5364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g</a:t>
            </a:r>
            <a:endParaRPr sz="500"/>
          </a:p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(gate)</a:t>
            </a:r>
            <a:endParaRPr sz="500"/>
          </a:p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0-init</a:t>
            </a:r>
            <a:endParaRPr sz="500"/>
          </a:p>
        </p:txBody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0A7B53FA-6DCC-4F5D-9009-CB48F64C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5843016"/>
            <a:ext cx="292608" cy="6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C41625BC-85DA-4F77-94CE-7A06EE0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943600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931B0A47-1990-4F50-BDFC-005A876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7424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398B9BFD-2803-4B39-949C-C6EBAE9D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504688"/>
            <a:ext cx="0" cy="237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1201CB90-0A49-4A6F-9BB9-08D77AB0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5468112"/>
            <a:ext cx="73152" cy="36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69" name="Text 267">
            <a:extLst xmlns:a="http://schemas.openxmlformats.org/drawingml/2006/main">
              <a:ext uri="{FF2B5EF4-FFF2-40B4-BE49-F238E27FC236}">
                <a16:creationId xmlns:a16="http://schemas.microsoft.com/office/drawing/2014/main" id="{648D440A-ADD9-41FE-B495-1C1BAA83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084064"/>
            <a:ext cx="384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  <a:endParaRPr sz="570"/>
          </a:p>
          <a:p xmlns:a="http://schemas.openxmlformats.org/drawingml/2006/main">
            <a:pPr marL="0" indent="0" algn="l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X′ ∈ R^(L × d)</a:t>
            </a:r>
            <a:endParaRPr sz="570"/>
          </a:p>
        </p:txBody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17620CD3-E8B6-405E-AAAA-98F82E0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5358384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A5A19F00-A38F-47C1-A5D7-C0FA8E9B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510528"/>
            <a:ext cx="3429000" cy="18288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7C1CC"/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3996E3A6-BB31-4791-BB6B-0893714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6350">
            <a:solidFill>
              <a:srgbClr val="2463A6"/>
            </a:solidFill>
            <a:prstDash val="solid"/>
          </a:ln>
        </p:spPr>
      </p:sp>
      <p:sp>
        <p:nvSpPr>
          <p:cNvPr id="273" name="Text 271">
            <a:extLst xmlns:a="http://schemas.openxmlformats.org/drawingml/2006/main">
              <a:ext uri="{FF2B5EF4-FFF2-40B4-BE49-F238E27FC236}">
                <a16:creationId xmlns:a16="http://schemas.microsoft.com/office/drawing/2014/main" id="{F285780C-1A7E-4C40-9E43-9E3D865F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Sequence pathway</a:t>
            </a:r>
            <a:endParaRPr sz="550"/>
          </a:p>
        </p:txBody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290C3C80-B547-46AE-9C31-8B2888AE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6350">
            <a:solidFill>
              <a:srgbClr val="3A8A3D"/>
            </a:solidFill>
            <a:prstDash val="solid"/>
          </a:ln>
        </p:spPr>
      </p:sp>
      <p:sp>
        <p:nvSpPr>
          <p:cNvPr id="275" name="Text 273">
            <a:extLst xmlns:a="http://schemas.openxmlformats.org/drawingml/2006/main">
              <a:ext uri="{FF2B5EF4-FFF2-40B4-BE49-F238E27FC236}">
                <a16:creationId xmlns:a16="http://schemas.microsoft.com/office/drawing/2014/main" id="{51E494A4-6446-4A55-AD73-194661F2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Geometry pathway</a:t>
            </a:r>
            <a:endParaRPr sz="550"/>
          </a:p>
        </p:txBody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5B2E088B-B4FD-4A2B-8A93-282A34C7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556248"/>
            <a:ext cx="14630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A"/>
          </a:solidFill>
          <a:ln xmlns:a="http://schemas.openxmlformats.org/drawingml/2006/main" w="6350">
            <a:solidFill>
              <a:srgbClr val="BD5364"/>
            </a:solidFill>
            <a:prstDash val="solid"/>
          </a:ln>
        </p:spPr>
      </p:sp>
      <p:sp>
        <p:nvSpPr>
          <p:cNvPr id="277" name="Text 275">
            <a:extLst xmlns:a="http://schemas.openxmlformats.org/drawingml/2006/main">
              <a:ext uri="{FF2B5EF4-FFF2-40B4-BE49-F238E27FC236}">
                <a16:creationId xmlns:a16="http://schemas.microsoft.com/office/drawing/2014/main" id="{BD3D85A8-C398-4100-9AD0-5497802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6547104"/>
            <a:ext cx="6858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Zero-init gate</a:t>
            </a:r>
            <a:endParaRPr sz="550"/>
          </a:p>
        </p:txBody>
      </p:sp>
      <p:sp>
        <p:nvSpPr>
          <p:cNvPr id="278" name="Text 276">
            <a:extLst xmlns:a="http://schemas.openxmlformats.org/drawingml/2006/main">
              <a:ext uri="{FF2B5EF4-FFF2-40B4-BE49-F238E27FC236}">
                <a16:creationId xmlns:a16="http://schemas.microsoft.com/office/drawing/2014/main" id="{6DE081B4-374E-4329-B21C-E5581312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4681728"/>
            <a:ext cx="960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Query hidden states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(from target chain)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X^t ∈ R^(L_t × d)</a:t>
            </a:r>
            <a:endParaRPr sz="560"/>
          </a:p>
        </p:txBody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AD6FF073-961F-4B13-8A5B-A294A2E5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834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A760B09D-B35C-4F65-8193-43A087F9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977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796623D4-E03E-4272-A86B-E4B83EFF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2120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4E6514C1-85A2-4CE9-98F7-A8B88D80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3263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3CB374CB-EE56-437A-8D6C-6D0D81E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440680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284" name="Text 282">
            <a:extLst xmlns:a="http://schemas.openxmlformats.org/drawingml/2006/main">
              <a:ext uri="{FF2B5EF4-FFF2-40B4-BE49-F238E27FC236}">
                <a16:creationId xmlns:a16="http://schemas.microsoft.com/office/drawing/2014/main" id="{429FB450-771C-42F5-9933-9D5DD425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961888"/>
            <a:ext cx="960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Key/Value hidden states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(from source chain)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X^s ∈ R^(L_s × d)</a:t>
            </a:r>
            <a:endParaRPr sz="560"/>
          </a:p>
        </p:txBody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4AC8D004-1533-4102-A7F1-BDD4293C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6327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83DEE822-D067-4D62-A61C-89F3D1E0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7470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43C0E160-A137-4471-96D2-4A1D06CB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8613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4A3B70A5-FC41-4E37-B00F-2539FEE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9756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6E060D23-0ED3-4B7C-85B7-2D26ADDE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60899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9A"/>
          </a:solidFill>
          <a:ln xmlns:a="http://schemas.openxmlformats.org/drawingml/2006/main" w="5715">
            <a:solidFill>
              <a:srgbClr val="3A8A3D"/>
            </a:solidFill>
            <a:prstDash val="solid"/>
          </a:ln>
        </p:spPr>
      </p:sp>
      <p:sp>
        <p:nvSpPr>
          <p:cNvPr id="290" name="Text 288">
            <a:extLst xmlns:a="http://schemas.openxmlformats.org/drawingml/2006/main">
              <a:ext uri="{FF2B5EF4-FFF2-40B4-BE49-F238E27FC236}">
                <a16:creationId xmlns:a16="http://schemas.microsoft.com/office/drawing/2014/main" id="{169714D9-DBC3-404F-9A82-B9BCBB05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4892040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W_Q</a:t>
            </a:r>
            <a:endParaRPr sz="600"/>
          </a:p>
        </p:txBody>
      </p:sp>
      <p:sp>
        <p:nvSpPr>
          <p:cNvPr id="291" name="Text 289">
            <a:extLst xmlns:a="http://schemas.openxmlformats.org/drawingml/2006/main">
              <a:ext uri="{FF2B5EF4-FFF2-40B4-BE49-F238E27FC236}">
                <a16:creationId xmlns:a16="http://schemas.microsoft.com/office/drawing/2014/main" id="{3ED0C860-9BB0-4A42-904A-FB2888A2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413248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W_K</a:t>
            </a:r>
            <a:endParaRPr sz="600"/>
          </a:p>
        </p:txBody>
      </p:sp>
      <p:sp>
        <p:nvSpPr>
          <p:cNvPr id="292" name="Text 290">
            <a:extLst xmlns:a="http://schemas.openxmlformats.org/drawingml/2006/main">
              <a:ext uri="{FF2B5EF4-FFF2-40B4-BE49-F238E27FC236}">
                <a16:creationId xmlns:a16="http://schemas.microsoft.com/office/drawing/2014/main" id="{C90B0CDE-8069-4C96-9799-07A9F336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943600"/>
            <a:ext cx="429768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W_V</a:t>
            </a:r>
            <a:endParaRPr sz="600"/>
          </a:p>
        </p:txBody>
      </p:sp>
      <p:sp>
        <p:nvSpPr>
          <p:cNvPr id="293" name="Text 291">
            <a:extLst xmlns:a="http://schemas.openxmlformats.org/drawingml/2006/main">
              <a:ext uri="{FF2B5EF4-FFF2-40B4-BE49-F238E27FC236}">
                <a16:creationId xmlns:a16="http://schemas.microsoft.com/office/drawing/2014/main" id="{3DCF0828-D155-4691-8C75-6C6928DF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892040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Q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(L_t × d_h)</a:t>
            </a:r>
            <a:endParaRPr sz="550"/>
          </a:p>
        </p:txBody>
      </p:sp>
      <p:sp>
        <p:nvSpPr>
          <p:cNvPr id="294" name="Text 292">
            <a:extLst xmlns:a="http://schemas.openxmlformats.org/drawingml/2006/main">
              <a:ext uri="{FF2B5EF4-FFF2-40B4-BE49-F238E27FC236}">
                <a16:creationId xmlns:a16="http://schemas.microsoft.com/office/drawing/2014/main" id="{04D5B2D1-C24D-4DBA-8F07-9FB6BAA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5413248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K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(L_s × d_h)</a:t>
            </a:r>
            <a:endParaRPr sz="550"/>
          </a:p>
        </p:txBody>
      </p:sp>
      <p:sp>
        <p:nvSpPr>
          <p:cNvPr id="295" name="Text 293">
            <a:extLst xmlns:a="http://schemas.openxmlformats.org/drawingml/2006/main">
              <a:ext uri="{FF2B5EF4-FFF2-40B4-BE49-F238E27FC236}">
                <a16:creationId xmlns:a16="http://schemas.microsoft.com/office/drawing/2014/main" id="{D36AEEA5-2727-4EC2-9541-744E00C3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5943600"/>
            <a:ext cx="530352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8ED"/>
          </a:solidFill>
          <a:ln xmlns:a="http://schemas.openxmlformats.org/drawingml/2006/main" w="10160">
            <a:solidFill>
              <a:srgbClr val="3A8A3D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V</a:t>
            </a:r>
            <a:endParaRPr sz="550"/>
          </a:p>
          <a:p xmlns:a="http://schemas.openxmlformats.org/drawingml/2006/main">
            <a:pPr marL="0" indent="0" algn="ctr">
              <a:buNone/>
            </a:pPr>
            <a:r>
              <a:rPr sz="55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(L_s × d_h)</a:t>
            </a:r>
            <a:endParaRPr sz="550"/>
          </a:p>
        </p:txBody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955C7FB5-B4FE-4F89-87CA-CCB16911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47488"/>
            <a:ext cx="45720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992BC092-05EB-4249-88C1-50400EA6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568696"/>
            <a:ext cx="457200" cy="356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D5866499-C2FC-4991-9E11-3DBB3837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925312"/>
            <a:ext cx="4572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0797FAE1-4475-465E-AD50-B5221364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047488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DC718C62-0814-40A3-B286-F4EDFF8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5568696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3CA581A1-BCD8-44C6-9315-5DD82962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6108192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2" name="Text 300">
            <a:extLst xmlns:a="http://schemas.openxmlformats.org/drawingml/2006/main">
              <a:ext uri="{FF2B5EF4-FFF2-40B4-BE49-F238E27FC236}">
                <a16:creationId xmlns:a16="http://schemas.microsoft.com/office/drawing/2014/main" id="{91AB13E7-C2BC-49F7-90B5-CA18B87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9496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303" name="Text 301">
            <a:extLst xmlns:a="http://schemas.openxmlformats.org/drawingml/2006/main">
              <a:ext uri="{FF2B5EF4-FFF2-40B4-BE49-F238E27FC236}">
                <a16:creationId xmlns:a16="http://schemas.microsoft.com/office/drawing/2014/main" id="{ADAB1A6A-DE99-4186-954D-B79F3525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513832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20">
                <a:solidFill>
                  <a:srgbClr val="111111"/>
                </a:solidFill>
                <a:latin typeface="Arial"/>
                <a:ea typeface="Arial"/>
                <a:cs typeface="Arial"/>
              </a:rPr>
              <a:t>/√d_h</a:t>
            </a:r>
            <a:endParaRPr sz="520"/>
          </a:p>
        </p:txBody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D5EE1457-1B2F-4426-9D05-484F6AD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047488"/>
            <a:ext cx="237744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93E91ABF-A318-4CCF-A93D-41F964F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468112"/>
            <a:ext cx="237744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6" name="Text 304">
            <a:extLst xmlns:a="http://schemas.openxmlformats.org/drawingml/2006/main">
              <a:ext uri="{FF2B5EF4-FFF2-40B4-BE49-F238E27FC236}">
                <a16:creationId xmlns:a16="http://schemas.microsoft.com/office/drawing/2014/main" id="{29F56CEE-75FC-4F08-A914-3A70F5DD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202936"/>
            <a:ext cx="56692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Softmax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(masked)</a:t>
            </a:r>
            <a:endParaRPr sz="560"/>
          </a:p>
        </p:txBody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B63B0A6-A4F6-45F0-B384-AFD261C3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394960"/>
            <a:ext cx="36576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08" name="Text 306">
            <a:extLst xmlns:a="http://schemas.openxmlformats.org/drawingml/2006/main">
              <a:ext uri="{FF2B5EF4-FFF2-40B4-BE49-F238E27FC236}">
                <a16:creationId xmlns:a16="http://schemas.microsoft.com/office/drawing/2014/main" id="{C0882830-7B39-4647-8302-AC0AF13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669280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  <a:endParaRPr sz="570"/>
          </a:p>
          <a:p xmlns:a="http://schemas.openxmlformats.org/drawingml/2006/main">
            <a:pPr marL="0" indent="0" algn="ctr">
              <a:buNone/>
            </a:pPr>
            <a:r>
              <a:rPr sz="570">
                <a:solidFill>
                  <a:srgbClr val="111111"/>
                </a:solidFill>
                <a:latin typeface="Arial"/>
                <a:ea typeface="Arial"/>
                <a:cs typeface="Arial"/>
              </a:rPr>
              <a:t>(L_t × L_s)</a:t>
            </a:r>
            <a:endParaRPr sz="570"/>
          </a:p>
        </p:txBody>
      </p:sp>
      <p:sp>
        <p:nvSpPr>
          <p:cNvPr id="309" name="Text 307">
            <a:extLst xmlns:a="http://schemas.openxmlformats.org/drawingml/2006/main">
              <a:ext uri="{FF2B5EF4-FFF2-40B4-BE49-F238E27FC236}">
                <a16:creationId xmlns:a16="http://schemas.microsoft.com/office/drawing/2014/main" id="{092175D6-EDB9-423E-9CF7-68BFEA91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587044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D0"/>
          </a:solidFill>
          <a:ln xmlns:a="http://schemas.openxmlformats.org/drawingml/2006/main" w="10160">
            <a:solidFill>
              <a:srgbClr val="C99A2E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11111"/>
                </a:solidFill>
                <a:latin typeface="Arial"/>
                <a:ea typeface="Arial"/>
                <a:cs typeface="Arial"/>
              </a:rPr>
              <a:t>×</a:t>
            </a:r>
            <a:endParaRPr sz="1000"/>
          </a:p>
        </p:txBody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9664E03F-ECD7-4C1D-9C25-B0627E2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586984"/>
            <a:ext cx="0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A5D593C2-2555-4755-AB7B-A5026C0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870448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B7C5BC85-F594-4C4D-889A-95C1301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6108192"/>
            <a:ext cx="896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15A7347E-72EB-4AAE-8980-5C31CDBD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5971032"/>
            <a:ext cx="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4" name="Text 312">
            <a:extLst xmlns:a="http://schemas.openxmlformats.org/drawingml/2006/main">
              <a:ext uri="{FF2B5EF4-FFF2-40B4-BE49-F238E27FC236}">
                <a16:creationId xmlns:a16="http://schemas.microsoft.com/office/drawing/2014/main" id="{88BB779F-A295-4592-A016-0883A652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6254496"/>
            <a:ext cx="566928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FFC"/>
          </a:solidFill>
          <a:ln xmlns:a="http://schemas.openxmlformats.org/drawingml/2006/main" w="10160">
            <a:solidFill>
              <a:srgbClr val="7B56B3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</a:t>
            </a:r>
            <a:endParaRPr sz="560"/>
          </a:p>
          <a:p xmlns:a="http://schemas.openxmlformats.org/drawingml/2006/main">
            <a:pPr marL="0" indent="0" algn="ctr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(d_h → d)</a:t>
            </a:r>
            <a:endParaRPr sz="560"/>
          </a:p>
        </p:txBody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CE46A7A7-6EB6-49CB-B7C4-71AA1B4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971032"/>
            <a:ext cx="100584" cy="28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4A215568-B2CB-4132-AC31-B5CC60FF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1755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13DB31BB-037F-43C0-9011-8285240C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2898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C78B5B8A-C648-4A04-A500-2BC6D6C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4041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1499BB26-8B63-4873-BB1A-9AB127F4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5184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95B08EBC-73E5-4B6A-94F9-12DFC75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632704"/>
            <a:ext cx="73152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1E9"/>
          </a:solidFill>
          <a:ln xmlns:a="http://schemas.openxmlformats.org/drawingml/2006/main" w="5715">
            <a:solidFill>
              <a:srgbClr val="2463A6"/>
            </a:solidFill>
            <a:prstDash val="solid"/>
          </a:ln>
        </p:spPr>
      </p:sp>
      <p:sp>
        <p:nvSpPr>
          <p:cNvPr id="321" name="Text 319">
            <a:extLst xmlns:a="http://schemas.openxmlformats.org/drawingml/2006/main">
              <a:ext uri="{FF2B5EF4-FFF2-40B4-BE49-F238E27FC236}">
                <a16:creationId xmlns:a16="http://schemas.microsoft.com/office/drawing/2014/main" id="{7B9556B3-5B91-412D-9E21-E315CD30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773168"/>
            <a:ext cx="4754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  <a:endParaRPr sz="560"/>
          </a:p>
          <a:p xmlns:a="http://schemas.openxmlformats.org/drawingml/2006/main">
            <a:pPr marL="0" indent="0" algn="l">
              <a:buNone/>
            </a:pPr>
            <a:r>
              <a:rPr sz="560">
                <a:solidFill>
                  <a:srgbClr val="111111"/>
                </a:solidFill>
                <a:latin typeface="Arial"/>
                <a:ea typeface="Arial"/>
                <a:cs typeface="Arial"/>
              </a:rPr>
              <a:t>R ∈ R^(L_t × d)</a:t>
            </a:r>
            <a:endParaRPr sz="560"/>
          </a:p>
        </p:txBody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1C2CCA5C-A2E8-4B09-9C9B-D02CEA5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6419088"/>
            <a:ext cx="640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C41D8D41-F6D8-43F8-B0FD-566EE985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32120"/>
            <a:ext cx="0" cy="886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24" name="Text 322">
            <a:extLst xmlns:a="http://schemas.openxmlformats.org/drawingml/2006/main">
              <a:ext uri="{FF2B5EF4-FFF2-40B4-BE49-F238E27FC236}">
                <a16:creationId xmlns:a16="http://schemas.microsoft.com/office/drawing/2014/main" id="{73C07680-13B6-4323-A7D4-2F4443D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6473952"/>
            <a:ext cx="1755648" cy="2286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A5A5A5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contact logits or pair scores</a:t>
            </a:r>
            <a:endParaRPr sz="540"/>
          </a:p>
          <a:p xmlns:a="http://schemas.openxmlformats.org/drawingml/2006/main">
            <a:pPr marL="0" indent="0" algn="ctr">
              <a:buNone/>
            </a:pPr>
            <a:r>
              <a:rPr sz="540">
                <a:solidFill>
                  <a:srgbClr val="111111"/>
                </a:solidFill>
                <a:latin typeface="Arial"/>
                <a:ea typeface="Arial"/>
                <a:cs typeface="Arial"/>
              </a:rPr>
              <a:t>are used in attention logits.</a:t>
            </a:r>
            <a:endParaRPr sz="540"/>
          </a:p>
        </p:txBody>
      </p:sp>
      <p:sp>
        <p:nvSpPr>
          <p:cNvPr id="325" name="Text 323">
            <a:extLst xmlns:a="http://schemas.openxmlformats.org/drawingml/2006/main">
              <a:ext uri="{FF2B5EF4-FFF2-40B4-BE49-F238E27FC236}">
                <a16:creationId xmlns:a16="http://schemas.microsoft.com/office/drawing/2014/main" id="{B1B67044-5242-4380-B9F0-3F076CC3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d_h: head dim</a:t>
            </a:r>
            <a:endParaRPr sz="500"/>
          </a:p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Multi-head</a:t>
            </a:r>
            <a:endParaRPr sz="500"/>
          </a:p>
          <a:p xmlns:a="http://schemas.openxmlformats.org/drawingml/2006/main">
            <a:pPr marL="0" indent="0" algn="l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(H heads)</a:t>
            </a:r>
            <a:endParaRPr sz="500"/>
          </a:p>
        </p:txBody>
      </p:sp>
      <p:sp>
        <p:nvSpPr>
          <p:cNvPr id="326" name="Text 324">
            <a:extLst xmlns:a="http://schemas.openxmlformats.org/drawingml/2006/main">
              <a:ext uri="{FF2B5EF4-FFF2-40B4-BE49-F238E27FC236}">
                <a16:creationId xmlns:a16="http://schemas.microsoft.com/office/drawing/2014/main" id="{9AA38B1F-E976-473F-A98F-0B7ECDE1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663440"/>
            <a:ext cx="1005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">
                <a:solidFill>
                  <a:srgbClr val="111111"/>
                </a:solidFill>
                <a:latin typeface="Arial"/>
                <a:ea typeface="Arial"/>
                <a:cs typeface="Arial"/>
              </a:rPr>
              <a:t>P ∈ [0,1]^(L_ab × L_ag)</a:t>
            </a:r>
            <a:endParaRPr sz="580"/>
          </a:p>
        </p:txBody>
      </p:sp>
      <p:sp>
        <p:nvSpPr>
          <p:cNvPr id="327" name="Text 325">
            <a:extLst xmlns:a="http://schemas.openxmlformats.org/drawingml/2006/main">
              <a:ext uri="{FF2B5EF4-FFF2-40B4-BE49-F238E27FC236}">
                <a16:creationId xmlns:a16="http://schemas.microsoft.com/office/drawing/2014/main" id="{CE09250B-5038-48BB-BC3F-4C2BE9A4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4937760"/>
            <a:ext cx="5669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(j)</a:t>
            </a:r>
            <a:endParaRPr sz="500"/>
          </a:p>
        </p:txBody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AA95BBEB-D466-4507-9D1F-081DC610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69D1F561-574E-4C72-A14C-EEEA83C3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26E23A75-F2A3-4038-BE90-1926CA69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9E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11CDB660-1D4B-456B-B00F-89A48A6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21208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B37CF6A6-43F4-40C0-976B-8EC1C4F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2FA6A7CE-A4FF-4B46-A7B2-C48DA01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387431C-DC87-4DB6-9766-F363378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35BEA58B-1887-478C-91C7-9336770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33095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790F3342-AE04-4415-81F1-9AFDBAE9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1B883A2C-4870-4916-A00E-E2A120F7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DD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B2FCF1C7-6CC8-42A9-A90E-1010526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B74DF56D-5370-4E74-A52F-54602B0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44982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D0156668-6164-45DE-A9E0-8522EC9A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3CC446CB-F94F-48C1-BE23-4254DF9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AC9B97FC-8598-4392-9BA5-DC8450F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B3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21A24F93-ECFE-48FF-9291-266E131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568696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814AC9D8-CAE1-4521-9A03-6276F0EA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4B54A80E-719C-4669-B4A3-A08C590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F4FAE523-864B-4A52-88CA-AFDFD89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20108268-8145-4824-8ABF-BEAA5FD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687568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7295BCDE-BF49-42FB-8DEE-7FA880A3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35A6C45C-BA67-4026-851D-8A754462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DE6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A657C923-EADB-4E6D-B3E9-F33E1EA2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0E8AD639-EF14-4CA1-BE79-AEC053BA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806440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A69734FB-3A24-42FC-BE21-A76956D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4F4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237F78A1-BD2F-4357-9E34-383C6FD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C69867F1-BD5B-46FA-AA55-8874FFB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0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D37F7A76-235E-4335-A5BC-5C9B82F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925312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356" name="Text 354">
            <a:extLst xmlns:a="http://schemas.openxmlformats.org/drawingml/2006/main">
              <a:ext uri="{FF2B5EF4-FFF2-40B4-BE49-F238E27FC236}">
                <a16:creationId xmlns:a16="http://schemas.microsoft.com/office/drawing/2014/main" id="{F5C4BB1E-72B1-4E96-B95A-2C2E2AAA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567928" y="5376672"/>
            <a:ext cx="12801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(i)</a:t>
            </a:r>
            <a:endParaRPr sz="480"/>
          </a:p>
        </p:txBody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D0352685-9F30-477F-8F5D-0D44AFB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4983480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1E708994-C763-4B43-BAAC-77A408FD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C72ABB0D-76EC-4A10-BBC1-F13D9A32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074920"/>
            <a:ext cx="0" cy="576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221E10E2-4400-49CC-A531-CC09C21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3267EC49-6D42-4F20-BC88-79CF66DD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C2A40C44-E881-4189-995E-80E8E278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5650992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9BE681C1-66CF-47D4-9492-568F01C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0" cy="694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64" name="Text 362">
            <a:extLst xmlns:a="http://schemas.openxmlformats.org/drawingml/2006/main">
              <a:ext uri="{FF2B5EF4-FFF2-40B4-BE49-F238E27FC236}">
                <a16:creationId xmlns:a16="http://schemas.microsoft.com/office/drawing/2014/main" id="{360EE569-7194-481C-850F-8E3C6B83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4663440"/>
            <a:ext cx="148132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Contact Head (pairwise)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P_ij → BCE (focal)</a:t>
            </a:r>
            <a:endParaRPr sz="580"/>
          </a:p>
          <a:p xmlns:a="http://schemas.openxmlformats.org/drawingml/2006/main">
            <a:pPr marL="0" indent="0" algn="ctr">
              <a:buNone/>
            </a:pPr>
            <a:r>
              <a:rPr sz="58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(ground truth Y_ij)</a:t>
            </a:r>
            <a:endParaRPr sz="580"/>
          </a:p>
        </p:txBody>
      </p:sp>
      <p:sp>
        <p:nvSpPr>
          <p:cNvPr id="365" name="Text 363">
            <a:extLst xmlns:a="http://schemas.openxmlformats.org/drawingml/2006/main">
              <a:ext uri="{FF2B5EF4-FFF2-40B4-BE49-F238E27FC236}">
                <a16:creationId xmlns:a16="http://schemas.microsoft.com/office/drawing/2014/main" id="{E0918145-1EB8-4F92-9E2C-2F17C1D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5422392"/>
            <a:ext cx="1627632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Paratope Head (Ab side)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Row-wise OR / max / noisy-OR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p_i^para = 1 − ∏(1 − P_ij)</a:t>
            </a:r>
            <a:endParaRPr sz="530"/>
          </a:p>
          <a:p xmlns:a="http://schemas.openxmlformats.org/drawingml/2006/main">
            <a:pPr marL="0" indent="0" algn="ctr">
              <a:buNone/>
            </a:pPr>
            <a:r>
              <a:rPr sz="53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→ BCE (ground truth y^para)</a:t>
            </a:r>
            <a:endParaRPr sz="530"/>
          </a:p>
        </p:txBody>
      </p:sp>
      <p:sp>
        <p:nvSpPr>
          <p:cNvPr id="366" name="Text 364">
            <a:extLst xmlns:a="http://schemas.openxmlformats.org/drawingml/2006/main">
              <a:ext uri="{FF2B5EF4-FFF2-40B4-BE49-F238E27FC236}">
                <a16:creationId xmlns:a16="http://schemas.microsoft.com/office/drawing/2014/main" id="{BB1CE361-3826-4026-9E0B-09166513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6144768"/>
            <a:ext cx="1700784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50" b="1">
                <a:solidFill>
                  <a:srgbClr val="E67A3C"/>
                </a:solidFill>
                <a:latin typeface="Arial"/>
                <a:ea typeface="Arial"/>
                <a:cs typeface="Arial"/>
              </a:rPr>
              <a:t>Epitope Head (Ag side)</a:t>
            </a:r>
            <a:endParaRPr sz="550"/>
          </a:p>
        </p:txBody>
      </p:sp>
      <p:sp>
        <p:nvSpPr>
          <p:cNvPr id="367" name="Text 365">
            <a:extLst xmlns:a="http://schemas.openxmlformats.org/drawingml/2006/main">
              <a:ext uri="{FF2B5EF4-FFF2-40B4-BE49-F238E27FC236}">
                <a16:creationId xmlns:a16="http://schemas.microsoft.com/office/drawing/2014/main" id="{0D655378-4DDA-494D-B60B-CF0C8BE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6364224"/>
            <a:ext cx="694944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2463A6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Joint baseline</a:t>
            </a:r>
            <a:endParaRPr sz="490"/>
          </a:p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(noisy-OR / max)</a:t>
            </a:r>
            <a:endParaRPr sz="490"/>
          </a:p>
          <a:p xmlns:a="http://schemas.openxmlformats.org/drawingml/2006/main">
            <a:pPr marL="0" indent="0" algn="ctr">
              <a:buNone/>
            </a:pPr>
            <a:r>
              <a:rPr sz="490">
                <a:solidFill>
                  <a:srgbClr val="111111"/>
                </a:solidFill>
                <a:latin typeface="Arial"/>
                <a:ea typeface="Arial"/>
                <a:cs typeface="Arial"/>
              </a:rPr>
              <a:t>p_j^epi = 1 − ∏(1 − P_ij)</a:t>
            </a:r>
            <a:endParaRPr sz="490"/>
          </a:p>
        </p:txBody>
      </p:sp>
      <p:sp>
        <p:nvSpPr>
          <p:cNvPr id="368" name="Text 366">
            <a:extLst xmlns:a="http://schemas.openxmlformats.org/drawingml/2006/main">
              <a:ext uri="{FF2B5EF4-FFF2-40B4-BE49-F238E27FC236}">
                <a16:creationId xmlns:a16="http://schemas.microsoft.com/office/drawing/2014/main" id="{C4BF6D0A-C697-47C4-B802-7DD67812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364224"/>
            <a:ext cx="749808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10160">
            <a:solidFill>
              <a:srgbClr val="E67A3C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TopK2 Expert (this work)</a:t>
            </a:r>
            <a:endParaRPr sz="480"/>
          </a:p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Top-2 over i for each column j</a:t>
            </a:r>
            <a:endParaRPr sz="480"/>
          </a:p>
          <a:p xmlns:a="http://schemas.openxmlformats.org/drawingml/2006/main">
            <a:pPr marL="0" indent="0" algn="ctr">
              <a:buNone/>
            </a:pPr>
            <a:r>
              <a:rPr sz="480" b="1">
                <a:solidFill>
                  <a:srgbClr val="2463A6"/>
                </a:solidFill>
                <a:latin typeface="Arial"/>
                <a:ea typeface="Arial"/>
                <a:cs typeface="Arial"/>
              </a:rPr>
              <a:t>mean → logit → BCE</a:t>
            </a:r>
            <a:endParaRPr sz="480"/>
          </a:p>
        </p:txBody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A503252A-7C76-40D3-BAAB-69B6A00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184" y="6565392"/>
            <a:ext cx="822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404040"/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7608407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ext 13">
            <a:extLst xmlns:a="http://schemas.openxmlformats.org/drawingml/2006/main">
              <a:ext uri="{FF2B5EF4-FFF2-40B4-BE49-F238E27FC236}">
                <a16:creationId xmlns:a16="http://schemas.microsoft.com/office/drawing/2014/main" id="{3B80A2A5-4BD2-4686-98E0-A05C5EA0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1164590"/>
            <a:ext cx="2205990" cy="16764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EVQLVESGGGLVQPGGSLR...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5">
            <a:extLst xmlns:a="http://schemas.openxmlformats.org/drawingml/2006/main">
              <a:ext uri="{FF2B5EF4-FFF2-40B4-BE49-F238E27FC236}">
                <a16:creationId xmlns:a16="http://schemas.microsoft.com/office/drawing/2014/main" id="{205EA37F-FA74-4028-A037-30686E5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2357120"/>
            <a:ext cx="2205990" cy="16764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MKTIILASYIFCLVFADY...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2">
            <a:extLst xmlns:a="http://schemas.openxmlformats.org/drawingml/2006/main">
              <a:ext uri="{FF2B5EF4-FFF2-40B4-BE49-F238E27FC236}">
                <a16:creationId xmlns:a16="http://schemas.microsoft.com/office/drawing/2014/main" id="{74A102AD-18B6-4460-8D69-5B58CFA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90855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sequence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b>
                  </m:sSub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3" name="Text 14">
            <a:extLst xmlns:a="http://schemas.openxmlformats.org/drawingml/2006/main">
              <a:ext uri="{FF2B5EF4-FFF2-40B4-BE49-F238E27FC236}">
                <a16:creationId xmlns:a16="http://schemas.microsoft.com/office/drawing/2014/main" id="{E78A6A21-CA3F-4A50-A7F9-853E639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210134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sequence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b>
                  </m:sSub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4" name="Text 16">
            <a:extLst xmlns:a="http://schemas.openxmlformats.org/drawingml/2006/main">
              <a:ext uri="{FF2B5EF4-FFF2-40B4-BE49-F238E27FC236}">
                <a16:creationId xmlns:a16="http://schemas.microsoft.com/office/drawing/2014/main" id="{02678F80-2392-405D-96EA-6B3711A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03822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PLM cache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ESM-2 650M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1" name="直接箭头连接符 75"/>
          <p:cNvCxnSpPr>
            <a:stCxn xmlns:a="http://schemas.openxmlformats.org/drawingml/2006/main" id="70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804160" y="124841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72" name="直接箭头连接符 76"/>
          <p:cNvCxnSpPr>
            <a:stCxn xmlns:a="http://schemas.openxmlformats.org/drawingml/2006/main" id="74" idx="3"/>
          </p:cNvCxnSpPr>
          <p:nvPr/>
        </p:nvCxnSpPr>
        <p:spPr>
          <a:xfrm xmlns:a="http://schemas.openxmlformats.org/drawingml/2006/main">
            <a:off x="3879850" y="1248410"/>
            <a:ext cx="210820" cy="44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9" name="Text 16">
            <a:extLst xmlns:a="http://schemas.openxmlformats.org/drawingml/2006/main">
              <a:ext uri="{FF2B5EF4-FFF2-40B4-BE49-F238E27FC236}">
                <a16:creationId xmlns:a16="http://schemas.microsoft.com/office/drawing/2014/main" id="{B07912F1-A288-405D-913C-A940B63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23075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3335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PLM cache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ESM-2 650M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4" name="直接箭头连接符 80"/>
          <p:cNvCxnSpPr>
            <a:stCxn xmlns:a="http://schemas.openxmlformats.org/drawingml/2006/main" id="71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804160" y="244094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75" name="直接箭头连接符 81"/>
          <p:cNvCxnSpPr>
            <a:stCxn xmlns:a="http://schemas.openxmlformats.org/drawingml/2006/main" id="79" idx="3"/>
          </p:cNvCxnSpPr>
          <p:nvPr/>
        </p:nvCxnSpPr>
        <p:spPr>
          <a:xfrm xmlns:a="http://schemas.openxmlformats.org/drawingml/2006/main">
            <a:off x="3879850" y="2440940"/>
            <a:ext cx="2108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3" name="Text 16">
            <a:extLst xmlns:a="http://schemas.openxmlformats.org/drawingml/2006/main">
              <a:ext uri="{FF2B5EF4-FFF2-40B4-BE49-F238E27FC236}">
                <a16:creationId xmlns:a16="http://schemas.microsoft.com/office/drawing/2014/main" id="{01DCECB6-3BFA-4A47-8482-BFAF9A7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58559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Predicted geometry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N / CA / C cache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7" name="直接箭头连接符 84"/>
          <p:cNvCxnSpPr>
            <a:stCxn xmlns:a="http://schemas.openxmlformats.org/drawingml/2006/main" id="83" idx="3"/>
          </p:cNvCxnSpPr>
          <p:nvPr/>
        </p:nvCxnSpPr>
        <p:spPr>
          <a:xfrm xmlns:a="http://schemas.openxmlformats.org/drawingml/2006/main" flipV="1">
            <a:off x="3879850" y="17945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78" name="直接箭头连接符 85"/>
          <p:cNvCxnSpPr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2912110" y="17945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2BABF8AA-F0A2-48BD-82B7-18AAB04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12528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Text 16">
            <a:extLst xmlns:a="http://schemas.openxmlformats.org/drawingml/2006/main">
              <a:ext uri="{FF2B5EF4-FFF2-40B4-BE49-F238E27FC236}">
                <a16:creationId xmlns:a16="http://schemas.microsoft.com/office/drawing/2014/main" id="{7E2A37C7-8ED1-4048-B9BA-3FBCC44B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77939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3335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Predicted geometry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N / CA / C cache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1" name="直接箭头连接符 89"/>
          <p:cNvCxnSpPr>
            <a:stCxn xmlns:a="http://schemas.openxmlformats.org/drawingml/2006/main" id="88" idx="3"/>
          </p:cNvCxnSpPr>
          <p:nvPr/>
        </p:nvCxnSpPr>
        <p:spPr>
          <a:xfrm xmlns:a="http://schemas.openxmlformats.org/drawingml/2006/main" flipV="1">
            <a:off x="3879850" y="29883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82" name="直接箭头连接符 90"/>
          <p:cNvCxnSpPr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912110" y="29883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715C6DC-87C3-4147-B143-7A4422A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24466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Text 18">
            <a:extLst xmlns:a="http://schemas.openxmlformats.org/drawingml/2006/main">
              <a:ext uri="{FF2B5EF4-FFF2-40B4-BE49-F238E27FC236}">
                <a16:creationId xmlns:a16="http://schemas.microsoft.com/office/drawing/2014/main" id="{E4074BB7-A1FA-4D4A-B584-9AA1219F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670" y="1053465"/>
            <a:ext cx="1039495" cy="216154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3335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85725" tIns="85725" rIns="85725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Interleaved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Geometry-Aware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Partner Exchange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Block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2">
            <a:extLst xmlns:a="http://schemas.openxmlformats.org/drawingml/2006/main">
              <a:ext uri="{FF2B5EF4-FFF2-40B4-BE49-F238E27FC236}">
                <a16:creationId xmlns:a16="http://schemas.microsoft.com/office/drawing/2014/main" id="{D42C3A5F-04AD-4787-B306-E2A5344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965" y="1396365"/>
            <a:ext cx="207010" cy="255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× 2</a:t>
            </a:r>
            <a:endParaRPr sz="10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cxnSp>
        <p:nvCxnSpPr>
          <p:cNvPr id="386" name="直接箭头连接符 95"/>
          <p:cNvCxnSpPr/>
          <p:nvPr/>
        </p:nvCxnSpPr>
        <p:spPr>
          <a:xfrm xmlns:a="http://schemas.openxmlformats.org/drawingml/2006/main" flipV="1">
            <a:off x="5130165" y="298704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87" name="直接箭头连接符 96"/>
          <p:cNvCxnSpPr/>
          <p:nvPr/>
        </p:nvCxnSpPr>
        <p:spPr>
          <a:xfrm xmlns:a="http://schemas.openxmlformats.org/drawingml/2006/main">
            <a:off x="5130165" y="2453005"/>
            <a:ext cx="2133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8" name="Shape 73">
            <a:extLst xmlns:a="http://schemas.openxmlformats.org/drawingml/2006/main">
              <a:ext uri="{FF2B5EF4-FFF2-40B4-BE49-F238E27FC236}">
                <a16:creationId xmlns:a16="http://schemas.microsoft.com/office/drawing/2014/main" id="{96A45BCF-5A12-41CB-83BC-692DE2E5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99" name="Shape 74">
            <a:extLst xmlns:a="http://schemas.openxmlformats.org/drawingml/2006/main">
              <a:ext uri="{FF2B5EF4-FFF2-40B4-BE49-F238E27FC236}">
                <a16:creationId xmlns:a16="http://schemas.microsoft.com/office/drawing/2014/main" id="{62878006-9A08-4C17-A1DF-C2E979C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2648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7" name="Shape 75">
            <a:extLst xmlns:a="http://schemas.openxmlformats.org/drawingml/2006/main">
              <a:ext uri="{FF2B5EF4-FFF2-40B4-BE49-F238E27FC236}">
                <a16:creationId xmlns:a16="http://schemas.microsoft.com/office/drawing/2014/main" id="{8BF3EF8D-8705-44D0-A990-FCBC568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2940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8" name="Shape 76">
            <a:extLst xmlns:a="http://schemas.openxmlformats.org/drawingml/2006/main">
              <a:ext uri="{FF2B5EF4-FFF2-40B4-BE49-F238E27FC236}">
                <a16:creationId xmlns:a16="http://schemas.microsoft.com/office/drawing/2014/main" id="{2A360576-B362-42A2-BECB-314F5071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063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9" name="Shape 77">
            <a:extLst xmlns:a="http://schemas.openxmlformats.org/drawingml/2006/main">
              <a:ext uri="{FF2B5EF4-FFF2-40B4-BE49-F238E27FC236}">
                <a16:creationId xmlns:a16="http://schemas.microsoft.com/office/drawing/2014/main" id="{062AA1A1-0F22-430F-98A6-24435E62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354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0" name="Shape 78">
            <a:extLst xmlns:a="http://schemas.openxmlformats.org/drawingml/2006/main">
              <a:ext uri="{FF2B5EF4-FFF2-40B4-BE49-F238E27FC236}">
                <a16:creationId xmlns:a16="http://schemas.microsoft.com/office/drawing/2014/main" id="{8888CAB6-3F4A-4553-BB60-0098ED1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1477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1" name="Shape 79">
            <a:extLst xmlns:a="http://schemas.openxmlformats.org/drawingml/2006/main">
              <a:ext uri="{FF2B5EF4-FFF2-40B4-BE49-F238E27FC236}">
                <a16:creationId xmlns:a16="http://schemas.microsoft.com/office/drawing/2014/main" id="{63285EAE-4DED-402D-B581-2EB209D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1769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8" name="Shape 80">
            <a:extLst xmlns:a="http://schemas.openxmlformats.org/drawingml/2006/main">
              <a:ext uri="{FF2B5EF4-FFF2-40B4-BE49-F238E27FC236}">
                <a16:creationId xmlns:a16="http://schemas.microsoft.com/office/drawing/2014/main" id="{2FA25CA0-FC67-4603-B3CB-43D7C16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0892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1" name="Shape 73">
            <a:extLst xmlns:a="http://schemas.openxmlformats.org/drawingml/2006/main">
              <a:ext uri="{FF2B5EF4-FFF2-40B4-BE49-F238E27FC236}">
                <a16:creationId xmlns:a16="http://schemas.microsoft.com/office/drawing/2014/main" id="{0C75EBFE-6A11-4D53-9CB4-973B1626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160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2" name="Shape 74">
            <a:extLst xmlns:a="http://schemas.openxmlformats.org/drawingml/2006/main">
              <a:ext uri="{FF2B5EF4-FFF2-40B4-BE49-F238E27FC236}">
                <a16:creationId xmlns:a16="http://schemas.microsoft.com/office/drawing/2014/main" id="{67837FDE-2039-44FA-8B86-EC1F9BEA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283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3" name="Shape 75">
            <a:extLst xmlns:a="http://schemas.openxmlformats.org/drawingml/2006/main">
              <a:ext uri="{FF2B5EF4-FFF2-40B4-BE49-F238E27FC236}">
                <a16:creationId xmlns:a16="http://schemas.microsoft.com/office/drawing/2014/main" id="{804982BE-48EB-4BD0-ADE6-452E3C8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3575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4" name="Shape 76">
            <a:extLst xmlns:a="http://schemas.openxmlformats.org/drawingml/2006/main">
              <a:ext uri="{FF2B5EF4-FFF2-40B4-BE49-F238E27FC236}">
                <a16:creationId xmlns:a16="http://schemas.microsoft.com/office/drawing/2014/main" id="{17DE8B95-236B-4AC6-BC6E-86556513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698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5" name="Shape 77">
            <a:extLst xmlns:a="http://schemas.openxmlformats.org/drawingml/2006/main">
              <a:ext uri="{FF2B5EF4-FFF2-40B4-BE49-F238E27FC236}">
                <a16:creationId xmlns:a16="http://schemas.microsoft.com/office/drawing/2014/main" id="{AE61C9D5-9FA0-4D6F-9369-D43C2857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989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6" name="Shape 78">
            <a:extLst xmlns:a="http://schemas.openxmlformats.org/drawingml/2006/main">
              <a:ext uri="{FF2B5EF4-FFF2-40B4-BE49-F238E27FC236}">
                <a16:creationId xmlns:a16="http://schemas.microsoft.com/office/drawing/2014/main" id="{604838C1-6943-466C-A74B-8A55DB5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112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7" name="Shape 79">
            <a:extLst xmlns:a="http://schemas.openxmlformats.org/drawingml/2006/main">
              <a:ext uri="{FF2B5EF4-FFF2-40B4-BE49-F238E27FC236}">
                <a16:creationId xmlns:a16="http://schemas.microsoft.com/office/drawing/2014/main" id="{9E1AF549-0FE0-4498-9A26-C6F8DBF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2404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8" name="Shape 80">
            <a:extLst xmlns:a="http://schemas.openxmlformats.org/drawingml/2006/main">
              <a:ext uri="{FF2B5EF4-FFF2-40B4-BE49-F238E27FC236}">
                <a16:creationId xmlns:a16="http://schemas.microsoft.com/office/drawing/2014/main" id="{591935C4-772F-40DB-A53A-6D1700D6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1527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96181D62-0EDE-44C7-81E8-A81A6E3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21005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𝒂𝒃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文本框 139">
            <a:extLst xmlns:a="http://schemas.openxmlformats.org/drawingml/2006/main">
              <a:ext uri="{FF2B5EF4-FFF2-40B4-BE49-F238E27FC236}">
                <a16:creationId xmlns:a16="http://schemas.microsoft.com/office/drawing/2014/main" id="{4F357493-B8E7-428E-97B8-C1C07F8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30911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𝒂𝒈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44C7FDDF-3624-41EE-BD15-B29FD45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00580"/>
            <a:ext cx="1039495" cy="112458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3335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12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Symmetric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12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Low-Rank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12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Pair Decoder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7" name="直接箭头连接符 141"/>
          <p:cNvCxnSpPr/>
          <p:nvPr/>
        </p:nvCxnSpPr>
        <p:spPr>
          <a:xfrm xmlns:a="http://schemas.openxmlformats.org/drawingml/2006/main">
            <a:off x="6447790" y="298958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8" name="直接箭头连接符 142"/>
          <p:cNvCxnSpPr/>
          <p:nvPr/>
        </p:nvCxnSpPr>
        <p:spPr>
          <a:xfrm xmlns:a="http://schemas.openxmlformats.org/drawingml/2006/main">
            <a:off x="6447790" y="244094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FF13C5F6-F10A-4022-81B4-F1AEB67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490" y="1670685"/>
            <a:ext cx="2024380" cy="29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200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Pair probabilities  p^r</a:t>
            </a:r>
            <a:endParaRPr sz="90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22B97B4E-BDC0-4F68-90F3-2CD754BE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3F43D22E-FCAF-4713-8C2D-08F6E90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00D87B2-18AC-4A34-88C6-C7D151E2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E25BD12A-C45D-4E16-9025-CD5C9ED4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EE1770CF-7D5C-4D12-85E7-0E7216B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FB95997A-C21B-4200-8B59-CD082675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FEB95397-1DE4-4826-8F25-D107E7A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9D86A4C3-7C6E-4D9E-9FCA-AF69A6E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FE2E7C33-0E85-40FB-BD8A-EAE382B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784E54D1-1A49-4D5E-98E8-07016E2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FB4DECB2-C1B2-4A7B-B1D0-A03E4BBD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749DC0FB-08B8-40BB-8FFB-DC28846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1EBFFE0C-A8BD-4E51-AB0E-E6E4448D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BD81B754-BEDB-42D0-9B1E-B967EC21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480115A7-B5D8-48E1-B9BF-D177159A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C6F07CF4-8CCF-4BAE-AB9F-36A1D750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741ADC9A-4B44-488D-BBE5-2E8ED7FA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3E1C69AC-BE62-479B-9B23-A781CB0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102B78BF-AF7C-49D9-80A0-2B0CFB2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01FB5A5E-FC6B-44F0-A52C-636E1A2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00144AA-EC07-4A47-B75B-CFA5514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13001F99-1FCF-4A4A-8150-29E13A24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EA56B12B-0B23-43DC-9D1E-59350A0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42BC34A2-21CA-47A5-BBF4-2D9B8189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47CD4F8C-440D-48A4-9B05-B984FFE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C0120689-492D-4290-BC98-A973A27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01E6CA9-716E-4BDE-9DE5-CF00ACF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B2A4F539-BBF7-4954-B30D-EFF2CCB6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66DCCFC3-97E9-4AEF-A353-73D8D5F1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3658A5B2-F232-41EE-8A18-48D7E6E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50D4EF94-4336-49CF-8D5A-5394EB95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11522223-305A-470A-BCAA-AE1723C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74930697-E198-4CD7-9A57-7C556721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202CF0FC-5DDC-4678-AC36-C8FFF238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6DDE402-9B41-4E11-8D2D-9C0B5FF5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A9B761DE-153E-4957-9C17-3950D97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2BC54C24-1D9C-41DF-92F1-D7A8E28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7C5DC9C4-F2AB-44A3-B2DB-CC9F433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2A6E4F26-6B76-4AF2-8A24-1A1A768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05E801A8-EF0A-4D98-8D2D-45E27AD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90DACBFB-6194-45F7-B103-61F0BEA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A00ECD9E-7184-4510-BD36-18F6FA0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CF617968-6741-4D0E-ADE5-80764854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CADB0865-5D6C-43F0-999F-0AEB1DAA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FAA2A8B3-D1DA-4BB9-A6FD-42D34FE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767172B-343F-4582-922C-A97B9A2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C358AB62-D940-47E6-9863-9C56B8A6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EA79951A-D233-463B-A4A0-CB1A09C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92CC4968-A042-43EE-9B47-7B7EA784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7DBDE3E4-E29A-4BA5-BBA0-4BE7E38B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AF61E6C4-C9F2-4F02-9A2B-7805CF0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EB6AA8C-57BF-4514-B8E3-457002E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FDFAEE2F-7B37-4189-84CE-6E9A1DFC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5D2BE20A-DCD9-4956-AB0A-9617766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0ED2C42F-7CC7-410B-BC9B-DF43F2B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8A47C42B-31A1-4A71-A4D3-AF90668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8F813F31-3464-4193-A068-58605A8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1931670"/>
            <a:ext cx="1447064" cy="189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5FA25AD3-5A05-407C-9C0A-75E31D4B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442814" y="2665147"/>
            <a:ext cx="1279843" cy="182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8" name="直接箭头连接符 144"/>
          <p:cNvCxnSpPr>
            <a:stCxn xmlns:a="http://schemas.openxmlformats.org/drawingml/2006/main" id="141" idx="3"/>
          </p:cNvCxnSpPr>
          <p:nvPr/>
        </p:nvCxnSpPr>
        <p:spPr>
          <a:xfrm xmlns:a="http://schemas.openxmlformats.org/drawingml/2006/main">
            <a:off x="7659370" y="2663190"/>
            <a:ext cx="332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7" name="Text 18">
            <a:extLst xmlns:a="http://schemas.openxmlformats.org/drawingml/2006/main">
              <a:ext uri="{FF2B5EF4-FFF2-40B4-BE49-F238E27FC236}">
                <a16:creationId xmlns:a16="http://schemas.microsoft.com/office/drawing/2014/main" id="{579777AC-EE34-4A82-ADA7-2AD3DD62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1657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95250" tIns="9525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"/>
              </a:spcAft>
            </a:pPr>
            <a:r>
              <a:rPr sz="1400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CONTACT  ·  J_r</a:t>
            </a:r>
          </a:p>
          <a:p xmlns:a="http://schemas.openxmlformats.org/drawingml/2006/main">
            <a:pPr algn="ctr"/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pairwise output
p^c_ij = σ(z^J_ij)</a:t>
            </a:r>
          </a:p>
        </p:txBody>
      </p:sp>
      <p:sp>
        <p:nvSpPr>
          <p:cNvPr id="148" name="Text 18">
            <a:extLst xmlns:a="http://schemas.openxmlformats.org/drawingml/2006/main">
              <a:ext uri="{FF2B5EF4-FFF2-40B4-BE49-F238E27FC236}">
                <a16:creationId xmlns:a16="http://schemas.microsoft.com/office/drawing/2014/main" id="{A6B5016F-942F-430E-925C-5373902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8859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4288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95250" tIns="9525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"/>
              </a:spcAft>
            </a:pPr>
            <a:r>
              <a:rPr sz="1400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EPITOPE  ·  E_r</a:t>
            </a:r>
          </a:p>
          <a:p xmlns:a="http://schemas.openxmlformats.org/drawingml/2006/main">
            <a:pPr algn="ctr"/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for each Ag residue j:
top-2 valid σ(z^E_ij)
mean → clip → logit</a:t>
            </a:r>
          </a:p>
        </p:txBody>
      </p:sp>
      <p:sp>
        <p:nvSpPr>
          <p:cNvPr id="149" name="Text 18">
            <a:extLst xmlns:a="http://schemas.openxmlformats.org/drawingml/2006/main">
              <a:ext uri="{FF2B5EF4-FFF2-40B4-BE49-F238E27FC236}">
                <a16:creationId xmlns:a16="http://schemas.microsoft.com/office/drawing/2014/main" id="{CD20646C-B979-4979-8DED-340520F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95250" tIns="9525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"/>
              </a:spcAft>
            </a:pPr>
            <a:r>
              <a:rPr sz="140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PARATOPE  ·  J_r</a:t>
            </a:r>
          </a:p>
          <a:p xmlns:a="http://schemas.openxmlformats.org/drawingml/2006/main">
            <a:pPr algn="ctr"/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direct Ab node logit
+ masked LME_j(z^J_ij)
→ sigmoid</a:t>
            </a:r>
          </a:p>
        </p:txBody>
      </p:sp>
      <p:sp>
        <p:nvSpPr>
          <p:cNvPr id="154" name="直接连接符 153">
            <a:extLst xmlns:a="http://schemas.openxmlformats.org/drawingml/2006/main">
              <a:ext uri="{FF2B5EF4-FFF2-40B4-BE49-F238E27FC236}">
                <a16:creationId xmlns:a16="http://schemas.microsoft.com/office/drawing/2014/main" id="{2E4D9E29-61D8-4F66-876C-983239B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" y="3091180"/>
            <a:ext cx="3492500" cy="6902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5" name="直接连接符 154">
            <a:extLst xmlns:a="http://schemas.openxmlformats.org/drawingml/2006/main">
              <a:ext uri="{FF2B5EF4-FFF2-40B4-BE49-F238E27FC236}">
                <a16:creationId xmlns:a16="http://schemas.microsoft.com/office/drawing/2014/main" id="{B727181B-D599-448F-8CC3-B0D6D64A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3091180"/>
            <a:ext cx="699770" cy="6902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6" name="Shape 2">
            <a:extLst xmlns:a="http://schemas.openxmlformats.org/drawingml/2006/main">
              <a:ext uri="{FF2B5EF4-FFF2-40B4-BE49-F238E27FC236}">
                <a16:creationId xmlns:a16="http://schemas.microsoft.com/office/drawing/2014/main" id="{4A711AA6-E892-4EBF-9CA4-34512C4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3781425"/>
            <a:ext cx="5231765" cy="239331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13335">
            <a:solidFill>
              <a:srgbClr val="93B5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7" name="直接连接符 156">
            <a:extLst xmlns:a="http://schemas.openxmlformats.org/drawingml/2006/main">
              <a:ext uri="{FF2B5EF4-FFF2-40B4-BE49-F238E27FC236}">
                <a16:creationId xmlns:a16="http://schemas.microsoft.com/office/drawing/2014/main" id="{65F15596-873C-4F63-BF6D-CAB2AED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60" y="1652270"/>
            <a:ext cx="753745" cy="49657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8" name="直接连接符 157">
            <a:extLst xmlns:a="http://schemas.openxmlformats.org/drawingml/2006/main">
              <a:ext uri="{FF2B5EF4-FFF2-40B4-BE49-F238E27FC236}">
                <a16:creationId xmlns:a16="http://schemas.microsoft.com/office/drawing/2014/main" id="{FA9568C5-6873-47EC-A294-48CEA785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59370" y="1670685"/>
            <a:ext cx="231140" cy="4781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Shape 2">
            <a:extLst xmlns:a="http://schemas.openxmlformats.org/drawingml/2006/main">
              <a:ext uri="{FF2B5EF4-FFF2-40B4-BE49-F238E27FC236}">
                <a16:creationId xmlns:a16="http://schemas.microsoft.com/office/drawing/2014/main" id="{34A7815D-60D0-473C-8223-8F0E563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60" y="369570"/>
            <a:ext cx="1991360" cy="1282700"/>
          </a:xfrm>
          <a:prstGeom xmlns:a="http://schemas.openxmlformats.org/drawingml/2006/main" prst="roundRect">
            <a:avLst>
              <a:gd name="adj" fmla="val 7426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13335">
            <a:solidFill>
              <a:srgbClr val="E69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2" name="Corrected architecture title">
            <a:extLst xmlns:a="http://schemas.openxmlformats.org/drawingml/2006/main">
              <a:ext uri="{FF2B5EF4-FFF2-40B4-BE49-F238E27FC236}">
                <a16:creationId xmlns:a16="http://schemas.microsoft.com/office/drawing/2014/main" id="{383B25A9-5CAF-4405-8535-9C90C3B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6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FrameContact: sequence-predicted geometry and seed-matched task routing</a:t>
            </a:r>
          </a:p>
        </p:txBody>
      </p:sp>
      <p:sp>
        <p:nvSpPr>
          <p:cNvPr id="353" name="Pair decoder detail title">
            <a:extLst xmlns:a="http://schemas.openxmlformats.org/drawingml/2006/main">
              <a:ext uri="{FF2B5EF4-FFF2-40B4-BE49-F238E27FC236}">
                <a16:creationId xmlns:a16="http://schemas.microsoft.com/office/drawing/2014/main" id="{CDEDBCEF-24C9-4BFB-B277-75FC2138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9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936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Symmetric low-rank pair decoder</a:t>
            </a:r>
          </a:p>
        </p:txBody>
      </p:sp>
      <p:sp>
        <p:nvSpPr>
          <p:cNvPr id="354" name="Pair decoder equations">
            <a:extLst xmlns:a="http://schemas.openxmlformats.org/drawingml/2006/main">
              <a:ext uri="{FF2B5EF4-FFF2-40B4-BE49-F238E27FC236}">
                <a16:creationId xmlns:a16="http://schemas.microsoft.com/office/drawing/2014/main" id="{15156889-44EE-426C-87FD-6BD3FCFB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609600"/>
            <a:ext cx="177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φ(x,y) = q(x)ᵀk(y)/√d_p + u(x) + v(y) +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z_ij = ½[φ(h_i^Ab,h_j^Ag) + φ(h_j^Ag,h_i^Ab)]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p_ij = σ(z_ij),   d_p = 128</a:t>
            </a:r>
          </a:p>
        </p:txBody>
      </p:sp>
      <p:sp>
        <p:nvSpPr>
          <p:cNvPr id="355" name="Partner exchange detail title">
            <a:extLst xmlns:a="http://schemas.openxmlformats.org/drawingml/2006/main">
              <a:ext uri="{FF2B5EF4-FFF2-40B4-BE49-F238E27FC236}">
                <a16:creationId xmlns:a16="http://schemas.microsoft.com/office/drawing/2014/main" id="{A27FED6E-03A2-4480-9BED-EC8D0BE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Interleaved Geometry-Aware Partner-Exchange Block  (one of L = 2)</a:t>
            </a:r>
          </a:p>
        </p:txBody>
      </p:sp>
      <p:sp>
        <p:nvSpPr>
          <p:cNvPr id="356" name="Factorized intra-chain encoder detail">
            <a:extLst xmlns:a="http://schemas.openxmlformats.org/drawingml/2006/main">
              <a:ext uri="{FF2B5EF4-FFF2-40B4-BE49-F238E27FC236}">
                <a16:creationId xmlns:a16="http://schemas.microsoft.com/office/drawing/2014/main" id="{53ADD39A-2751-4C52-9DD4-43DD2A5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5717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EFF5FF"/>
          </a:solidFill>
          <a:ln xmlns:a="http://schemas.openxmlformats.org/drawingml/2006/main" w="11906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76200" tIns="76200" rIns="76200" bIns="66675" anchor="ctr">
            <a:normAutofit fontScale="88928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Parallel Ab / Ag intra-chain encoders</a:t>
            </a:r>
          </a:p>
          <a:p xmlns:a="http://schemas.openxmlformats.org/drawingml/2006/main">
            <a:pPr algn="ctr">
              <a:spcAft>
                <a:spcPts val="1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Dense content self-attention</a:t>
            </a:r>
          </a:p>
          <a:p xmlns:a="http://schemas.openxmlformats.org/drawingml/2006/main">
            <a:pPr algn="ctr">
              <a:spcAft>
                <a:spcPts val="4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∥  Local geometry-biased self-attention</a:t>
            </a:r>
          </a:p>
          <a:p xmlns:a="http://schemas.openxmlformats.org/drawingml/2006/main">
            <a:pPr algn="ctr">
              <a:spcAft>
                <a:spcPts val="3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E6C7B"/>
                </a:solidFill>
                <a:latin typeface="Arial"/>
                <a:ea typeface="Arial"/>
                <a:cs typeface="Arial"/>
              </a:rPr>
              <a:t>same physical chain · RoPE · SiLU FFN</a:t>
            </a:r>
          </a:p>
          <a:p xmlns:a="http://schemas.openxmlformats.org/drawingml/2006/main">
            <a:pPr algn="ctr"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870">
                <a:solidFill>
                  <a:srgbClr val="5E6C7B"/>
                </a:solidFill>
                <a:latin typeface="Arial"/>
                <a:ea typeface="Arial"/>
                <a:cs typeface="Arial"/>
              </a:rPr>
              <a:t>H = H_dense + tanh(g_geom)(H_local − H_in);  g_geom = 0 init</a:t>
            </a:r>
          </a:p>
        </p:txBody>
      </p:sp>
      <p:sp>
        <p:nvSpPr>
          <p:cNvPr id="357" name="Bidirectional cross-attention detail">
            <a:extLst xmlns:a="http://schemas.openxmlformats.org/drawingml/2006/main">
              <a:ext uri="{FF2B5EF4-FFF2-40B4-BE49-F238E27FC236}">
                <a16:creationId xmlns:a16="http://schemas.microsoft.com/office/drawing/2014/main" id="{EF27C634-89EA-4F66-88FB-F6F2F87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0383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1906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76200" tIns="76200" rIns="76200" bIns="66675" anchor="ctr">
            <a:normAutofit fontScale="793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Simultaneous partner exchange</a:t>
            </a:r>
          </a:p>
          <a:p xmlns:a="http://schemas.openxmlformats.org/drawingml/2006/main">
            <a:pPr algn="ctr">
              <a:spcAft>
                <a:spcPts val="2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Ab  ←  Ag</a:t>
            </a:r>
          </a:p>
          <a:p xmlns:a="http://schemas.openxmlformats.org/drawingml/2006/main">
            <a:pPr algn="ctr">
              <a:spcAft>
                <a:spcPts val="6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Ag  ←  Ab</a:t>
            </a:r>
          </a:p>
          <a:p xmlns:a="http://schemas.openxmlformats.org/drawingml/2006/main">
            <a:pPr algn="ctr">
              <a:spcAft>
                <a:spcPts val="2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223247"/>
                </a:solidFill>
                <a:latin typeface="Arial"/>
                <a:ea typeface="Arial"/>
                <a:cs typeface="Arial"/>
              </a:rPr>
              <a:t>multi-head · content-only</a:t>
            </a:r>
          </a:p>
          <a:p xmlns:a="http://schemas.openxmlformats.org/drawingml/2006/main">
            <a:pPr algn="ctr"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880">
                <a:solidFill>
                  <a:srgbClr val="5E6C7B"/>
                </a:solidFill>
                <a:latin typeface="Arial"/>
                <a:ea typeface="Arial"/>
                <a:cs typeface="Arial"/>
              </a:rPr>
              <a:t>both directions read the same pre-cross states</a:t>
            </a:r>
          </a:p>
        </p:txBody>
      </p:sp>
      <p:cxnSp>
        <p:nvCxnSpPr>
          <p:cNvPr id="484" name=""/>
          <p:cNvCxnSpPr>
            <a:stCxn xmlns:a="http://schemas.openxmlformats.org/drawingml/2006/main" id="356" idx="3"/>
            <a:endCxn xmlns:a="http://schemas.openxmlformats.org/drawingml/2006/main" id="357" idx="1"/>
          </p:cNvCxnSpPr>
          <p:nvPr/>
        </p:nvCxnSpPr>
        <p:spPr>
          <a:xfrm xmlns:a="http://schemas.openxmlformats.org/drawingml/2006/main">
            <a:off x="3333750" y="47005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72D1"/>
            </a:solidFill>
            <a:prstDash val="solid"/>
            <a:headEnd type="triangle" w="sm" len="sm"/>
          </a:ln>
        </p:spPr>
      </p:cxnSp>
      <p:sp>
        <p:nvSpPr>
          <p:cNvPr id="359" name="Interleaved order note">
            <a:extLst xmlns:a="http://schemas.openxmlformats.org/drawingml/2006/main">
              <a:ext uri="{FF2B5EF4-FFF2-40B4-BE49-F238E27FC236}">
                <a16:creationId xmlns:a16="http://schemas.microsoft.com/office/drawing/2014/main" id="{F22FC0F0-F8DD-4609-8222-BA3BD83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8387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91494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Per block: [parallel Ab/Ag intra-chain encoding]  →  [simultaneous Ab←Ag and Ag←Ab]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Geometry enters only the local same-chain attention bias; pair/contact logits are not used by the frozen content-only cross-attention.</a:t>
            </a:r>
          </a:p>
        </p:txBody>
      </p:sp>
      <p:sp>
        <p:nvSpPr>
          <p:cNvPr id="360" name="Seed-matched task router">
            <a:extLst xmlns:a="http://schemas.openxmlformats.org/drawingml/2006/main">
              <a:ext uri="{FF2B5EF4-FFF2-40B4-BE49-F238E27FC236}">
                <a16:creationId xmlns:a16="http://schemas.microsoft.com/office/drawing/2014/main" id="{C9C3C853-1A35-40CF-AD0E-748CAFF9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55435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11906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178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Seed-matched fixed router  r ∈ {17, 29, 43}:  contact + paratope ← J_r   |   epitope ← E_r</a:t>
            </a:r>
          </a:p>
        </p:txBody>
      </p:sp>
      <p:cxnSp>
        <p:nvCxnSpPr>
          <p:cNvPr id="487" name=""/>
          <p:cNvCxnSpPr>
            <a:stCxn xmlns:a="http://schemas.openxmlformats.org/drawingml/2006/main" id="360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 flipH="1">
            <a:off x="6810375" y="3819525"/>
            <a:ext cx="19431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C5D3"/>
            </a:solidFill>
            <a:prstDash val="solid"/>
            <a:headEnd type="triangle" w="sm" len="sm"/>
          </a:ln>
        </p:spPr>
      </p:cxnSp>
      <p:cxnSp>
        <p:nvCxnSpPr>
          <p:cNvPr id="488" name=""/>
          <p:cNvCxnSpPr>
            <a:stCxn xmlns:a="http://schemas.openxmlformats.org/drawingml/2006/main" id="360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 flipH="1">
            <a:off x="8639175" y="3819525"/>
            <a:ext cx="1143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C5D3"/>
            </a:solidFill>
            <a:prstDash val="solid"/>
            <a:headEnd type="triangle" w="sm" len="sm"/>
          </a:ln>
        </p:spPr>
      </p:cxnSp>
      <p:cxnSp>
        <p:nvCxnSpPr>
          <p:cNvPr id="489" name=""/>
          <p:cNvCxnSpPr>
            <a:stCxn xmlns:a="http://schemas.openxmlformats.org/drawingml/2006/main" id="360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8753475" y="3819525"/>
            <a:ext cx="18288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C5D3"/>
            </a:solidFill>
            <a:prstDash val="solid"/>
            <a:headEnd type="triangle" w="sm" len="sm"/>
          </a:ln>
        </p:spPr>
      </p:cxnSp>
      <p:sp>
        <p:nvSpPr>
          <p:cNvPr id="364" name="Routing boundary note">
            <a:extLst xmlns:a="http://schemas.openxmlformats.org/drawingml/2006/main">
              <a:ext uri="{FF2B5EF4-FFF2-40B4-BE49-F238E27FC236}">
                <a16:creationId xmlns:a16="http://schemas.microsoft.com/office/drawing/2014/main" id="{1D180DB5-CAC8-4918-8296-BC88492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546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E6C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E6C7B"/>
                </a:solidFill>
                <a:latin typeface="Arial"/>
                <a:ea typeface="Arial"/>
                <a:cs typeface="Arial"/>
              </a:rPr>
              <a:t>Continuous scores are routed; no mixture-weight tuning and no thresholded-label routing.</a:t>
            </a:r>
          </a:p>
        </p:txBody>
      </p:sp>
      <p:sp>
        <p:nvSpPr>
          <p:cNvPr id="365" name="Sequence-only input boundary">
            <a:extLst xmlns:a="http://schemas.openxmlformats.org/drawingml/2006/main">
              <a:ext uri="{FF2B5EF4-FFF2-40B4-BE49-F238E27FC236}">
                <a16:creationId xmlns:a16="http://schemas.microsoft.com/office/drawing/2014/main" id="{1C5337F4-E129-4E84-B3E1-CEB8D46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165735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85725" tIns="85725" rIns="85725" bIns="76200" anchor="ctr">
            <a:normAutofit fontScale="95213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SEQUENCE-ONLY INPUT BOUNDARY</a:t>
            </a:r>
          </a:p>
          <a:p xmlns:a="http://schemas.openxmlformats.org/drawingml/2006/main">
            <a:pPr marL="14" indent="-8" algn="l">
              <a:spcAft>
                <a:spcPts val="3"/>
              </a:spcAft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223247"/>
                </a:solidFill>
                <a:latin typeface="Arial"/>
                <a:ea typeface="Arial"/>
                <a:cs typeface="Arial"/>
              </a:rPr>
              <a:t>PLM residue embeddings</a:t>
            </a:r>
          </a:p>
          <a:p xmlns:a="http://schemas.openxmlformats.org/drawingml/2006/main">
            <a:pPr marL="14" indent="-8" algn="l">
              <a:spcAft>
                <a:spcPts val="3"/>
              </a:spcAft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223247"/>
                </a:solidFill>
                <a:latin typeface="Arial"/>
                <a:ea typeface="Arial"/>
                <a:cs typeface="Arial"/>
              </a:rPr>
              <a:t>chain-internal predicted N/CA/C</a:t>
            </a:r>
          </a:p>
          <a:p xmlns:a="http://schemas.openxmlformats.org/drawingml/2006/main">
            <a:pPr marL="14" indent="-8" algn="l">
              <a:spcAft>
                <a:spcPts val="3"/>
              </a:spcAft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20">
                <a:solidFill>
                  <a:srgbClr val="223247"/>
                </a:solidFill>
                <a:latin typeface="Arial"/>
                <a:ea typeface="Arial"/>
                <a:cs typeface="Arial"/>
              </a:rPr>
              <a:t>no cross-partner coordinates or true distances</a:t>
            </a:r>
          </a:p>
          <a:p xmlns:a="http://schemas.openxmlformats.org/drawingml/2006/main">
            <a:pPr marL="14" indent="-8" algn="l"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20">
                <a:solidFill>
                  <a:srgbClr val="223247"/>
                </a:solidFill>
                <a:latin typeface="Arial"/>
                <a:ea typeface="Arial"/>
                <a:cs typeface="Arial"/>
              </a:rPr>
              <a:t>no contact labels as model input</a:t>
            </a:r>
          </a:p>
        </p:txBody>
      </p:sp>
    </p:spTree>
    <p:extLst>
      <p:ext uri="{BB962C8B-B14F-4D97-AF65-F5344CB8AC3E}">
        <p14:creationId xmlns:p14="http://schemas.microsoft.com/office/powerpoint/2010/main" val="8146545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2026-08-28T14:47:54.7760000Z</dcterms:created>
  <dcterms:modified xsi:type="dcterms:W3CDTF">2026-08-28T14:47:54.7760000Z</dcterms:modified>
</coreProperties>
</file>