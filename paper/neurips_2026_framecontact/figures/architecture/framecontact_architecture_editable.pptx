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c1ff6560724e36" /><Relationship Type="http://schemas.openxmlformats.org/officeDocument/2006/relationships/extended-properties" Target="/docProps/app.xml" Id="R1b8fa0ed55524c8f" /><Relationship Type="http://schemas.openxmlformats.org/officeDocument/2006/relationships/officeDocument" Target="/ppt/presentation.xml" Id="R344f6172a2f8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c068f1aa754666"/>
  </p:sldMasterIdLst>
  <p:notesMasterIdLst>
    <p:notesMasterId xmlns:r="http://schemas.openxmlformats.org/officeDocument/2006/relationships" r:id="Rab7820204a2b4374"/>
  </p:notesMasterIdLst>
  <p:sldIdLst>
    <p:sldId xmlns:r="http://schemas.openxmlformats.org/officeDocument/2006/relationships" id="256" r:id="R0c016419d7fc40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931729c71491a" /><Relationship Type="http://schemas.openxmlformats.org/officeDocument/2006/relationships/slideMaster" Target="/ppt/slideMasters/slideMaster1.xml" Id="Rd9c068f1aa754666" /><Relationship Type="http://schemas.openxmlformats.org/officeDocument/2006/relationships/notesMaster" Target="/ppt/notesMasters/notesMaster1.xml" Id="Rab7820204a2b4374" /><Relationship Type="http://schemas.openxmlformats.org/officeDocument/2006/relationships/presProps" Target="/ppt/presProps.xml" Id="Rc298511aba4e4586" /><Relationship Type="http://schemas.openxmlformats.org/officeDocument/2006/relationships/viewProps" Target="/ppt/viewProps.xml" Id="Ra6df6e635c1c486b" /><Relationship Type="http://schemas.openxmlformats.org/officeDocument/2006/relationships/tableStyles" Target="/ppt/tableStyles.xml" Id="Rcb95d4e84aca4da7" /><Relationship Type="http://schemas.openxmlformats.org/officeDocument/2006/relationships/slide" Target="/ppt/slides/slide1.xml" Id="R0c016419d7fc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e8053929d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a86e3aeb784a37" /><Relationship Type="http://schemas.openxmlformats.org/officeDocument/2006/relationships/notesMaster" Target="/ppt/notesMasters/notesMaster1.xml" Id="R4732aa64e6c942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2c012e78114e4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790c2b6b34718" /><Relationship Type="http://schemas.openxmlformats.org/officeDocument/2006/relationships/slideLayout" Target="/ppt/slideLayouts/slideLayout1.xml" Id="Ref8b9a89826548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b9a898265486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942223a054b60" /><Relationship Type="http://schemas.openxmlformats.org/officeDocument/2006/relationships/notesSlide" Target="/ppt/notesSlides/notesSlide1.xml" Id="R9c9b3df4b6cc40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Text 13">
            <a:extLst xmlns:a="http://schemas.openxmlformats.org/drawingml/2006/main">
              <a:ext uri="{FF2B5EF4-FFF2-40B4-BE49-F238E27FC236}">
                <a16:creationId xmlns:a16="http://schemas.microsoft.com/office/drawing/2014/main" id="{3B80A2A5-4BD2-4686-98E0-A05C5EA0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116459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EVQLVESGGGLVQPGGSLR...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5">
            <a:extLst xmlns:a="http://schemas.openxmlformats.org/drawingml/2006/main">
              <a:ext uri="{FF2B5EF4-FFF2-40B4-BE49-F238E27FC236}">
                <a16:creationId xmlns:a16="http://schemas.microsoft.com/office/drawing/2014/main" id="{205EA37F-FA74-4028-A037-30686E5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2357120"/>
            <a:ext cx="2205990" cy="16764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24242"/>
            </a:solidFill>
          </a:ln>
        </p:spPr>
        <p:txBody>
          <a:bodyPr xmlns:a="http://schemas.openxmlformats.org/drawingml/2006/main" wrap="square" lIns="127" tIns="127" rIns="127" bIns="127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MKTIILASYIFCLVFADY...</a:t>
            </a:r>
            <a:endParaRPr sz="83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2">
            <a:extLst xmlns:a="http://schemas.openxmlformats.org/drawingml/2006/main">
              <a:ext uri="{FF2B5EF4-FFF2-40B4-BE49-F238E27FC236}">
                <a16:creationId xmlns:a16="http://schemas.microsoft.com/office/drawing/2014/main" id="{74A102AD-18B6-4460-8D69-5B58CFA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908558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3" name="Text 14">
            <a:extLst xmlns:a="http://schemas.openxmlformats.org/drawingml/2006/main">
              <a:ext uri="{FF2B5EF4-FFF2-40B4-BE49-F238E27FC236}">
                <a16:creationId xmlns:a16="http://schemas.microsoft.com/office/drawing/2014/main" id="{E78A6A21-CA3F-4A50-A7F9-853E639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18" y="2101342"/>
            <a:ext cx="1234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sequence </a:t>
            </a:r>
            <a14:m xmlns:a14="http://schemas.microsoft.com/office/drawing/2010/main">
              <m:oMathPara xmlns:m="http://schemas.openxmlformats.org/officeDocument/2006/math">
                <m:oMath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(</m:t>
                  </m:r>
                  <m:sSub>
                    <m:e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8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b>
                  </m:sSub>
                  <m:r>
                    <a:rPr xmlns:a="http://schemas.openxmlformats.org/drawingml/2006/main" lang="en-US" sz="8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8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74" name="Text 16">
            <a:extLst xmlns:a="http://schemas.openxmlformats.org/drawingml/2006/main">
              <a:ext uri="{FF2B5EF4-FFF2-40B4-BE49-F238E27FC236}">
                <a16:creationId xmlns:a16="http://schemas.microsoft.com/office/drawing/2014/main" id="{02678F80-2392-405D-96EA-6B3711A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03822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5" name="直接箭头连接符 75"/>
          <p:cNvCxnSpPr>
            <a:stCxn xmlns:a="http://schemas.openxmlformats.org/drawingml/2006/main" id="70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2804160" y="124841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96" name="直接箭头连接符 76"/>
          <p:cNvCxnSpPr>
            <a:stCxn xmlns:a="http://schemas.openxmlformats.org/drawingml/2006/main" id="74" idx="3"/>
          </p:cNvCxnSpPr>
          <p:nvPr/>
        </p:nvCxnSpPr>
        <p:spPr>
          <a:xfrm xmlns:a="http://schemas.openxmlformats.org/drawingml/2006/main">
            <a:off x="3879850" y="1248410"/>
            <a:ext cx="210820" cy="44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79" name="Text 16">
            <a:extLst xmlns:a="http://schemas.openxmlformats.org/drawingml/2006/main">
              <a:ext uri="{FF2B5EF4-FFF2-40B4-BE49-F238E27FC236}">
                <a16:creationId xmlns:a16="http://schemas.microsoft.com/office/drawing/2014/main" id="{B07912F1-A288-405D-913C-A940B63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23075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3335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PLM cache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ESM-2 650M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1280d → 128d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98" name="直接箭头连接符 80"/>
          <p:cNvCxnSpPr>
            <a:stCxn xmlns:a="http://schemas.openxmlformats.org/drawingml/2006/main" id="71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804160" y="2440940"/>
            <a:ext cx="2609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99" name="直接箭头连接符 81"/>
          <p:cNvCxnSpPr>
            <a:stCxn xmlns:a="http://schemas.openxmlformats.org/drawingml/2006/main" id="79" idx="3"/>
          </p:cNvCxnSpPr>
          <p:nvPr/>
        </p:nvCxnSpPr>
        <p:spPr>
          <a:xfrm xmlns:a="http://schemas.openxmlformats.org/drawingml/2006/main">
            <a:off x="3879850" y="2440940"/>
            <a:ext cx="2108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3" name="Text 16">
            <a:extLst xmlns:a="http://schemas.openxmlformats.org/drawingml/2006/main">
              <a:ext uri="{FF2B5EF4-FFF2-40B4-BE49-F238E27FC236}">
                <a16:creationId xmlns:a16="http://schemas.microsoft.com/office/drawing/2014/main" id="{01DCECB6-3BFA-4A47-8482-BFAF9A7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15855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3335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Predicted geometry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14F7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1" name="直接箭头连接符 84"/>
          <p:cNvCxnSpPr>
            <a:stCxn xmlns:a="http://schemas.openxmlformats.org/drawingml/2006/main" id="83" idx="3"/>
          </p:cNvCxnSpPr>
          <p:nvPr/>
        </p:nvCxnSpPr>
        <p:spPr>
          <a:xfrm xmlns:a="http://schemas.openxmlformats.org/drawingml/2006/main" flipV="1">
            <a:off x="3879850" y="17945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02" name="直接箭头连接符 85"/>
          <p:cNvCxnSpPr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912110" y="17945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直接连接符 86">
            <a:extLst xmlns:a="http://schemas.openxmlformats.org/drawingml/2006/main">
              <a:ext uri="{FF2B5EF4-FFF2-40B4-BE49-F238E27FC236}">
                <a16:creationId xmlns:a16="http://schemas.microsoft.com/office/drawing/2014/main" id="{2BABF8AA-F0A2-48BD-82B7-18AAB04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12528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Text 16">
            <a:extLst xmlns:a="http://schemas.openxmlformats.org/drawingml/2006/main">
              <a:ext uri="{FF2B5EF4-FFF2-40B4-BE49-F238E27FC236}">
                <a16:creationId xmlns:a16="http://schemas.microsoft.com/office/drawing/2014/main" id="{7E2A37C7-8ED1-4048-B9BA-3FBCC44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" y="2779395"/>
            <a:ext cx="814705" cy="4203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3335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63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Predicted geometry</a:t>
            </a:r>
            <a:endParaRPr sz="800"/>
          </a:p>
          <a:p xmlns:a="http://schemas.openxmlformats.org/drawingml/2006/main">
            <a:pPr marL="0" indent="0" algn="ctr">
              <a:buNone/>
              <a:defRPr sz="863" b="1">
                <a:solidFill>
                  <a:srgbClr val="2D6B3D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N / CA / C cache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05" name="直接箭头连接符 89"/>
          <p:cNvCxnSpPr>
            <a:stCxn xmlns:a="http://schemas.openxmlformats.org/drawingml/2006/main" id="88" idx="3"/>
          </p:cNvCxnSpPr>
          <p:nvPr/>
        </p:nvCxnSpPr>
        <p:spPr>
          <a:xfrm xmlns:a="http://schemas.openxmlformats.org/drawingml/2006/main" flipV="1">
            <a:off x="3879850" y="298831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06" name="直接箭头连接符 90"/>
          <p:cNvCxnSpPr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912110" y="2988310"/>
            <a:ext cx="153035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715C6DC-87C3-4147-B143-7A4422A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300" y="2446655"/>
            <a:ext cx="0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Text 18">
            <a:extLst xmlns:a="http://schemas.openxmlformats.org/drawingml/2006/main">
              <a:ext uri="{FF2B5EF4-FFF2-40B4-BE49-F238E27FC236}">
                <a16:creationId xmlns:a16="http://schemas.microsoft.com/office/drawing/2014/main" id="{E4074BB7-A1FA-4D4A-B584-9AA1219F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670" y="1053465"/>
            <a:ext cx="1039495" cy="216154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3335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85725" tIns="85725" rIns="85725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Interleaved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Geometry-Aware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Partner Exchange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088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Block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2">
            <a:extLst xmlns:a="http://schemas.openxmlformats.org/drawingml/2006/main">
              <a:ext uri="{FF2B5EF4-FFF2-40B4-BE49-F238E27FC236}">
                <a16:creationId xmlns:a16="http://schemas.microsoft.com/office/drawing/2014/main" id="{D42C3A5F-04AD-4787-B306-E2A5344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965" y="1396365"/>
            <a:ext cx="207010" cy="255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00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× 2</a:t>
            </a:r>
            <a:endParaRPr sz="102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cxnSp>
        <p:nvCxnSpPr>
          <p:cNvPr id="510" name="直接箭头连接符 95"/>
          <p:cNvCxnSpPr/>
          <p:nvPr/>
        </p:nvCxnSpPr>
        <p:spPr>
          <a:xfrm xmlns:a="http://schemas.openxmlformats.org/drawingml/2006/main" flipV="1">
            <a:off x="5130165" y="2987040"/>
            <a:ext cx="210820" cy="1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1" name="直接箭头连接符 96"/>
          <p:cNvCxnSpPr/>
          <p:nvPr/>
        </p:nvCxnSpPr>
        <p:spPr>
          <a:xfrm xmlns:a="http://schemas.openxmlformats.org/drawingml/2006/main">
            <a:off x="5130165" y="2453005"/>
            <a:ext cx="2133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8" name="Shape 73">
            <a:extLst xmlns:a="http://schemas.openxmlformats.org/drawingml/2006/main">
              <a:ext uri="{FF2B5EF4-FFF2-40B4-BE49-F238E27FC236}">
                <a16:creationId xmlns:a16="http://schemas.microsoft.com/office/drawing/2014/main" id="{96A45BCF-5A12-41CB-83BC-692DE2E5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9" name="Shape 74">
            <a:extLst xmlns:a="http://schemas.openxmlformats.org/drawingml/2006/main">
              <a:ext uri="{FF2B5EF4-FFF2-40B4-BE49-F238E27FC236}">
                <a16:creationId xmlns:a16="http://schemas.microsoft.com/office/drawing/2014/main" id="{62878006-9A08-4C17-A1DF-C2E979C7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2648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7" name="Shape 75">
            <a:extLst xmlns:a="http://schemas.openxmlformats.org/drawingml/2006/main">
              <a:ext uri="{FF2B5EF4-FFF2-40B4-BE49-F238E27FC236}">
                <a16:creationId xmlns:a16="http://schemas.microsoft.com/office/drawing/2014/main" id="{8BF3EF8D-8705-44D0-A990-FCBC568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2940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8" name="Shape 76">
            <a:extLst xmlns:a="http://schemas.openxmlformats.org/drawingml/2006/main">
              <a:ext uri="{FF2B5EF4-FFF2-40B4-BE49-F238E27FC236}">
                <a16:creationId xmlns:a16="http://schemas.microsoft.com/office/drawing/2014/main" id="{2A360576-B362-42A2-BECB-314F5071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063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09" name="Shape 77">
            <a:extLst xmlns:a="http://schemas.openxmlformats.org/drawingml/2006/main">
              <a:ext uri="{FF2B5EF4-FFF2-40B4-BE49-F238E27FC236}">
                <a16:creationId xmlns:a16="http://schemas.microsoft.com/office/drawing/2014/main" id="{062AA1A1-0F22-430F-98A6-24435E62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354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0" name="Shape 78">
            <a:extLst xmlns:a="http://schemas.openxmlformats.org/drawingml/2006/main">
              <a:ext uri="{FF2B5EF4-FFF2-40B4-BE49-F238E27FC236}">
                <a16:creationId xmlns:a16="http://schemas.microsoft.com/office/drawing/2014/main" id="{8888CAB6-3F4A-4553-BB60-0098ED1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1477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1" name="Shape 79">
            <a:extLst xmlns:a="http://schemas.openxmlformats.org/drawingml/2006/main">
              <a:ext uri="{FF2B5EF4-FFF2-40B4-BE49-F238E27FC236}">
                <a16:creationId xmlns:a16="http://schemas.microsoft.com/office/drawing/2014/main" id="{63285EAE-4DED-402D-B581-2EB209D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1769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8" name="Shape 80">
            <a:extLst xmlns:a="http://schemas.openxmlformats.org/drawingml/2006/main">
              <a:ext uri="{FF2B5EF4-FFF2-40B4-BE49-F238E27FC236}">
                <a16:creationId xmlns:a16="http://schemas.microsoft.com/office/drawing/2014/main" id="{2FA25CA0-FC67-4603-B3CB-43D7C16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0892" y="235077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1" name="Shape 73">
            <a:extLst xmlns:a="http://schemas.openxmlformats.org/drawingml/2006/main">
              <a:ext uri="{FF2B5EF4-FFF2-40B4-BE49-F238E27FC236}">
                <a16:creationId xmlns:a16="http://schemas.microsoft.com/office/drawing/2014/main" id="{0C75EBFE-6A11-4D53-9CB4-973B1626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4160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2" name="Shape 74">
            <a:extLst xmlns:a="http://schemas.openxmlformats.org/drawingml/2006/main">
              <a:ext uri="{FF2B5EF4-FFF2-40B4-BE49-F238E27FC236}">
                <a16:creationId xmlns:a16="http://schemas.microsoft.com/office/drawing/2014/main" id="{67837FDE-2039-44FA-8B86-EC1F9BEA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3283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3" name="Shape 75">
            <a:extLst xmlns:a="http://schemas.openxmlformats.org/drawingml/2006/main">
              <a:ext uri="{FF2B5EF4-FFF2-40B4-BE49-F238E27FC236}">
                <a16:creationId xmlns:a16="http://schemas.microsoft.com/office/drawing/2014/main" id="{804982BE-48EB-4BD0-ADE6-452E3C8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3575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4" name="Shape 76">
            <a:extLst xmlns:a="http://schemas.openxmlformats.org/drawingml/2006/main">
              <a:ext uri="{FF2B5EF4-FFF2-40B4-BE49-F238E27FC236}">
                <a16:creationId xmlns:a16="http://schemas.microsoft.com/office/drawing/2014/main" id="{17DE8B95-236B-4AC6-BC6E-86556513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62698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5" name="Shape 77">
            <a:extLst xmlns:a="http://schemas.openxmlformats.org/drawingml/2006/main">
              <a:ext uri="{FF2B5EF4-FFF2-40B4-BE49-F238E27FC236}">
                <a16:creationId xmlns:a16="http://schemas.microsoft.com/office/drawing/2014/main" id="{AE61C9D5-9FA0-4D6F-9369-D43C2857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2989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6" name="Shape 78">
            <a:extLst xmlns:a="http://schemas.openxmlformats.org/drawingml/2006/main">
              <a:ext uri="{FF2B5EF4-FFF2-40B4-BE49-F238E27FC236}">
                <a16:creationId xmlns:a16="http://schemas.microsoft.com/office/drawing/2014/main" id="{604838C1-6943-466C-A74B-8A55DB5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2112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7" name="Shape 79">
            <a:extLst xmlns:a="http://schemas.openxmlformats.org/drawingml/2006/main">
              <a:ext uri="{FF2B5EF4-FFF2-40B4-BE49-F238E27FC236}">
                <a16:creationId xmlns:a16="http://schemas.microsoft.com/office/drawing/2014/main" id="{9E1AF549-0FE0-4498-9A26-C6F8DBF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82404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8" name="Shape 80">
            <a:extLst xmlns:a="http://schemas.openxmlformats.org/drawingml/2006/main">
              <a:ext uri="{FF2B5EF4-FFF2-40B4-BE49-F238E27FC236}">
                <a16:creationId xmlns:a16="http://schemas.microsoft.com/office/drawing/2014/main" id="{591935C4-772F-40DB-A53A-6D1700D6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21527" y="2887980"/>
            <a:ext cx="126262" cy="2032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96181D62-0EDE-44C7-81E8-A81A6E3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21005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𝒂𝒃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𝒂𝒃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文本框 139">
            <a:extLst xmlns:a="http://schemas.openxmlformats.org/drawingml/2006/main">
              <a:ext uri="{FF2B5EF4-FFF2-40B4-BE49-F238E27FC236}">
                <a16:creationId xmlns:a16="http://schemas.microsoft.com/office/drawing/2014/main" id="{4F357493-B8E7-428E-97B8-C1C07F8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255" y="3091180"/>
            <a:ext cx="946150" cy="2501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acc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𝑯</m:t>
                          </m:r>
                        </m:e>
                      </m:acc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𝒂𝒈</m:t>
                      </m:r>
                    </m:sup>
                  </m:sSup>
                  <m:r>
                    <a:rPr xmlns:a="http://schemas.openxmlformats.org/drawingml/2006/main" lang="en-US" sz="102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∈</m:t>
                  </m:r>
                  <m:sSup>
                    <m:e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𝑹</m:t>
                      </m:r>
                    </m:e>
                    <m:sup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𝑳</m:t>
                          </m:r>
                        </m:e>
                        <m:sub>
                          <m:r>
                            <a:rPr xmlns:a="http://schemas.openxmlformats.org/drawingml/2006/main" lang="en-US" sz="102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𝒂𝒈</m:t>
                          </m:r>
                        </m:sub>
                      </m:sSub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𝒅</m:t>
                      </m:r>
                      <m:r>
                        <a:rPr xmlns:a="http://schemas.openxmlformats.org/drawingml/2006/main" lang="en-US" sz="102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p>
                </m:oMath>
              </m:oMathPara>
            </a14:m>
            <a:r>
              <a:rPr sz="10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endParaRPr sz="102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44C7FDDF-3624-41EE-BD15-B29FD45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0580"/>
            <a:ext cx="1039495" cy="112458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3335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Symmetric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Low-Rank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 algn="ctr">
              <a:buNone/>
              <a:defRPr sz="1125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Pair Decoder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1" name="直接箭头连接符 141"/>
          <p:cNvCxnSpPr/>
          <p:nvPr/>
        </p:nvCxnSpPr>
        <p:spPr>
          <a:xfrm xmlns:a="http://schemas.openxmlformats.org/drawingml/2006/main">
            <a:off x="6447790" y="298958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32" name="直接箭头连接符 142"/>
          <p:cNvCxnSpPr/>
          <p:nvPr/>
        </p:nvCxnSpPr>
        <p:spPr>
          <a:xfrm xmlns:a="http://schemas.openxmlformats.org/drawingml/2006/main">
            <a:off x="6447790" y="2440940"/>
            <a:ext cx="1720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2" name="Text 180">
            <a:extLst xmlns:a="http://schemas.openxmlformats.org/drawingml/2006/main">
              <a:ext uri="{FF2B5EF4-FFF2-40B4-BE49-F238E27FC236}">
                <a16:creationId xmlns:a16="http://schemas.microsoft.com/office/drawing/2014/main" id="{FF13C5F6-F10A-4022-81B4-F1AEB67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490" y="1670685"/>
            <a:ext cx="2024380" cy="29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Pair probabilities  p^r</a:t>
            </a:r>
            <a:endParaRPr sz="900" b="1" i="1">
              <a:solidFill>
                <a:srgbClr val="111111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22B97B4E-BDC0-4F68-90F3-2CD754BE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3F43D22E-FCAF-4713-8C2D-08F6E90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00D87B2-18AC-4A34-88C6-C7D151E2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25BD12A-C45D-4E16-9025-CD5C9ED4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EE1770CF-7D5C-4D12-85E7-0E7216B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FB95997A-C21B-4200-8B59-CD082675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FEB95397-1DE4-4826-8F25-D107E7A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D86A4C3-7C6E-4D9E-9FCA-AF69A6E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12077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FE2E7C33-0E85-40FB-BD8A-EAE382B0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784E54D1-1A49-4D5E-98E8-07016E2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FB4DECB2-C1B2-4A7B-B1D0-A03E4BBD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49DC0FB-08B8-40BB-8FFB-DC28846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DE1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1EBFFE0C-A8BD-4E51-AB0E-E6E4448D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BD81B754-BEDB-42D0-9B1E-B967EC21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480115A7-B5D8-48E1-B9BF-D177159A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C6F07CF4-8CCF-4BAE-AB9F-36A1D75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302235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41ADC9A-4B44-488D-BBE5-2E8ED7FA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1C69AC-BE62-479B-9B23-A781CB0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102B78BF-AF7C-49D9-80A0-2B0CFB2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01FB5A5E-FC6B-44F0-A52C-636E1A2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00144AA-EC07-4A47-B75B-CFA5514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13001F99-1FCF-4A4A-8150-29E13A24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D5F0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EA56B12B-0B23-43DC-9D1E-59350A0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42BC34A2-21CA-47A5-BBF4-2D9B8189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48259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47CD4F8C-440D-48A4-9B05-B984FFE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C0120689-492D-4290-BC98-A973A270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01E6CA9-716E-4BDE-9DE5-CF00ACF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B2A4F539-BBF7-4954-B30D-EFF2CCB6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66DCCFC3-97E9-4AEF-A353-73D8D5F1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0D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3658A5B2-F232-41EE-8A18-48D7E6E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50D4EF94-4336-49CF-8D5A-5394EB95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11522223-305A-470A-BCAA-AE1723C0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66405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4EE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74930697-E198-4CD7-9A57-7C556721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202CF0FC-5DDC-4678-AC36-C8FFF23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6DDE402-9B41-4E11-8D2D-9C0B5FF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A9B761DE-153E-4957-9C17-3950D975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2BC54C24-1D9C-41DF-92F1-D7A8E28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7C5DC9C4-F2AB-44A3-B2DB-CC9F433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2A6E4F26-6B76-4AF2-8A24-1A1A768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05E801A8-EF0A-4D98-8D2D-45E27AD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2844418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90DACBFB-6194-45F7-B103-61F0BEA0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A00ECD9E-7184-4510-BD36-18F6FA0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BAEA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CF617968-6741-4D0E-ADE5-8076485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CADB0865-5D6C-43F0-999F-0AEB1DAA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FAA2A8B3-D1DA-4BB9-A6FD-42D34FEB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767172B-343F-4582-922C-A97B9A2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C358AB62-D940-47E6-9863-9C56B8A6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AE7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EA79951A-D233-463B-A4A0-CB1A09C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025874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2CC4968-A042-43EE-9B47-7B7EA784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7DBDE3E4-E29A-4BA5-BBA0-4BE7E38B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55427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AF61E6C4-C9F2-4F02-9A2B-7805CF0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5764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EB6AA8C-57BF-4514-B8E3-457002E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719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5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FDFAEE2F-7B37-4189-84CE-6E9A1DFC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8623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5D2BE20A-DCD9-4956-AB0A-9617766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895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0ED2C42F-7CC7-410B-BC9B-DF43F2B3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60389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8FD8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8A47C42B-31A1-4A71-A4D3-AF90668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0725" y="3207330"/>
            <a:ext cx="181429" cy="18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445">
            <a:solidFill>
              <a:srgbClr val="C1C1C1"/>
            </a:solidFill>
            <a:prstDash val="solid"/>
          </a:ln>
        </p:spPr>
      </p:sp>
      <p:sp>
        <p:nvSpPr>
          <p:cNvPr id="239" name="Text 237">
            <a:extLst xmlns:a="http://schemas.openxmlformats.org/drawingml/2006/main">
              <a:ext uri="{FF2B5EF4-FFF2-40B4-BE49-F238E27FC236}">
                <a16:creationId xmlns:a16="http://schemas.microsoft.com/office/drawing/2014/main" id="{8F813F31-3464-4193-A068-58605A8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3997" y="1931670"/>
            <a:ext cx="1447064" cy="1891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Antigen residues (j)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ext 238">
            <a:extLst xmlns:a="http://schemas.openxmlformats.org/drawingml/2006/main">
              <a:ext uri="{FF2B5EF4-FFF2-40B4-BE49-F238E27FC236}">
                <a16:creationId xmlns:a16="http://schemas.microsoft.com/office/drawing/2014/main" id="{5FA25AD3-5A05-407C-9C0A-75E31D4B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442814" y="2665147"/>
            <a:ext cx="1279843" cy="182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Antibody residues (i)</a:t>
            </a:r>
            <a:endParaRPr sz="8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92" name="直接箭头连接符 144"/>
          <p:cNvCxnSpPr>
            <a:stCxn xmlns:a="http://schemas.openxmlformats.org/drawingml/2006/main" id="141" idx="3"/>
          </p:cNvCxnSpPr>
          <p:nvPr/>
        </p:nvCxnSpPr>
        <p:spPr>
          <a:xfrm xmlns:a="http://schemas.openxmlformats.org/drawingml/2006/main">
            <a:off x="7659370" y="2663190"/>
            <a:ext cx="332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7" name="Text 18">
            <a:extLst xmlns:a="http://schemas.openxmlformats.org/drawingml/2006/main">
              <a:ext uri="{FF2B5EF4-FFF2-40B4-BE49-F238E27FC236}">
                <a16:creationId xmlns:a16="http://schemas.microsoft.com/office/drawing/2014/main" id="{579777AC-EE34-4A82-ADA7-2AD3DD62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6573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69A5C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  <a:buNone/>
            </a:pPr>
            <a:r>
              <a:rPr sz="1400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CONTACT  ·  J_r</a:t>
            </a:r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pairwise output
p^c_ij = σ(z^J_ij)</a:t>
            </a:r>
          </a:p>
        </p:txBody>
      </p:sp>
      <p:sp>
        <p:nvSpPr>
          <p:cNvPr id="148" name="Text 18">
            <a:extLst xmlns:a="http://schemas.openxmlformats.org/drawingml/2006/main">
              <a:ext uri="{FF2B5EF4-FFF2-40B4-BE49-F238E27FC236}">
                <a16:creationId xmlns:a16="http://schemas.microsoft.com/office/drawing/2014/main" id="{A6B5016F-942F-430E-925C-5373902E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8859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CF8EF"/>
          </a:solidFill>
          <a:ln xmlns:a="http://schemas.openxmlformats.org/drawingml/2006/main" w="14288">
            <a:solidFill>
              <a:srgbClr val="5BA66B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  <a:buNone/>
            </a:pPr>
            <a:r>
              <a:rPr sz="1400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EPITOPE  ·  E_r</a:t>
            </a:r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for each Ag residue j:
top-2 valid σ(z^E_ij)
mean → clip → logit</a:t>
            </a:r>
          </a:p>
        </p:txBody>
      </p:sp>
      <p:sp>
        <p:nvSpPr>
          <p:cNvPr id="149" name="Text 18">
            <a:extLst xmlns:a="http://schemas.openxmlformats.org/drawingml/2006/main">
              <a:ext uri="{FF2B5EF4-FFF2-40B4-BE49-F238E27FC236}">
                <a16:creationId xmlns:a16="http://schemas.microsoft.com/office/drawing/2014/main" id="{CD20646C-B979-4979-8DED-340520F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1809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95250" tIns="9525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"/>
              </a:spcAft>
              <a:buNone/>
            </a:pPr>
            <a:r>
              <a:rPr sz="14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PARATOPE  ·  J_r</a:t>
            </a:r>
          </a:p>
          <a:p xmlns:a="http://schemas.openxmlformats.org/drawingml/2006/main">
            <a:pPr algn="ctr">
              <a:buNone/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direct Ab node logit
+ masked LME_j(z^J_ij)
→ sigmoid</a:t>
            </a:r>
          </a:p>
        </p:txBody>
      </p:sp>
      <p:sp>
        <p:nvSpPr>
          <p:cNvPr id="154" name="直接连接符 153">
            <a:extLst xmlns:a="http://schemas.openxmlformats.org/drawingml/2006/main">
              <a:ext uri="{FF2B5EF4-FFF2-40B4-BE49-F238E27FC236}">
                <a16:creationId xmlns:a16="http://schemas.microsoft.com/office/drawing/2014/main" id="{2E4D9E29-61D8-4F66-876C-983239B6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8170" y="3091180"/>
            <a:ext cx="349250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5" name="直接连接符 154">
            <a:extLst xmlns:a="http://schemas.openxmlformats.org/drawingml/2006/main">
              <a:ext uri="{FF2B5EF4-FFF2-40B4-BE49-F238E27FC236}">
                <a16:creationId xmlns:a16="http://schemas.microsoft.com/office/drawing/2014/main" id="{B727181B-D599-448F-8CC3-B0D6D64A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165" y="3091180"/>
            <a:ext cx="699770" cy="6902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6" name="Shape 2">
            <a:extLst xmlns:a="http://schemas.openxmlformats.org/drawingml/2006/main">
              <a:ext uri="{FF2B5EF4-FFF2-40B4-BE49-F238E27FC236}">
                <a16:creationId xmlns:a16="http://schemas.microsoft.com/office/drawing/2014/main" id="{4A711AA6-E892-4EBF-9CA4-34512C4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3781425"/>
            <a:ext cx="5231765" cy="239331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FBFCFF"/>
          </a:solidFill>
          <a:ln xmlns:a="http://schemas.openxmlformats.org/drawingml/2006/main" w="13335">
            <a:solidFill>
              <a:srgbClr val="93B5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7" name="直接连接符 156">
            <a:extLst xmlns:a="http://schemas.openxmlformats.org/drawingml/2006/main">
              <a:ext uri="{FF2B5EF4-FFF2-40B4-BE49-F238E27FC236}">
                <a16:creationId xmlns:a16="http://schemas.microsoft.com/office/drawing/2014/main" id="{65F15596-873C-4F63-BF6D-CAB2AED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1652270"/>
            <a:ext cx="753745" cy="49657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8" name="直接连接符 157">
            <a:extLst xmlns:a="http://schemas.openxmlformats.org/drawingml/2006/main">
              <a:ext uri="{FF2B5EF4-FFF2-40B4-BE49-F238E27FC236}">
                <a16:creationId xmlns:a16="http://schemas.microsoft.com/office/drawing/2014/main" id="{FA9568C5-6873-47EC-A294-48CEA785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59370" y="1670685"/>
            <a:ext cx="231140" cy="47815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59" name="Shape 2">
            <a:extLst xmlns:a="http://schemas.openxmlformats.org/drawingml/2006/main">
              <a:ext uri="{FF2B5EF4-FFF2-40B4-BE49-F238E27FC236}">
                <a16:creationId xmlns:a16="http://schemas.microsoft.com/office/drawing/2014/main" id="{34A7815D-60D0-473C-8223-8F0E563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960" y="369570"/>
            <a:ext cx="1991360" cy="1282700"/>
          </a:xfrm>
          <a:prstGeom xmlns:a="http://schemas.openxmlformats.org/drawingml/2006/main" prst="roundRect">
            <a:avLst>
              <a:gd name="adj" fmla="val 7426"/>
            </a:avLst>
          </a:prstGeom>
          <a:solidFill xmlns:a="http://schemas.openxmlformats.org/drawingml/2006/main">
            <a:srgbClr val="FFFCF8"/>
          </a:solidFill>
          <a:ln xmlns:a="http://schemas.openxmlformats.org/drawingml/2006/main" w="13335">
            <a:solidFill>
              <a:srgbClr val="E69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2" name="Corrected architecture title">
            <a:extLst xmlns:a="http://schemas.openxmlformats.org/drawingml/2006/main">
              <a:ext uri="{FF2B5EF4-FFF2-40B4-BE49-F238E27FC236}">
                <a16:creationId xmlns:a16="http://schemas.microsoft.com/office/drawing/2014/main" id="{383B25A9-5CAF-4405-8535-9C90C3B4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6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FrameContact: sequence-predicted geometry and seed-matched task routing</a:t>
            </a:r>
          </a:p>
        </p:txBody>
      </p:sp>
      <p:sp>
        <p:nvSpPr>
          <p:cNvPr id="353" name="Pair decoder detail title">
            <a:extLst xmlns:a="http://schemas.openxmlformats.org/drawingml/2006/main">
              <a:ext uri="{FF2B5EF4-FFF2-40B4-BE49-F238E27FC236}">
                <a16:creationId xmlns:a16="http://schemas.microsoft.com/office/drawing/2014/main" id="{CDEDBCEF-24C9-4BFB-B277-75FC2138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9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914C1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914C18"/>
                </a:solidFill>
                <a:latin typeface="Arial"/>
                <a:ea typeface="Arial"/>
                <a:cs typeface="Arial"/>
              </a:rPr>
              <a:t>Symmetric low-rank pair decoder</a:t>
            </a:r>
          </a:p>
        </p:txBody>
      </p:sp>
      <p:sp>
        <p:nvSpPr>
          <p:cNvPr id="354" name="Pair decoder equations">
            <a:extLst xmlns:a="http://schemas.openxmlformats.org/drawingml/2006/main">
              <a:ext uri="{FF2B5EF4-FFF2-40B4-BE49-F238E27FC236}">
                <a16:creationId xmlns:a16="http://schemas.microsoft.com/office/drawing/2014/main" id="{15156889-44EE-426C-87FD-6BD3FCFB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609600"/>
            <a:ext cx="1771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φ(x,y) = q(x)ᵀk(y)/√d_p + u(x) + v(y) +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z_ij = ½[φ(h_i^Ab,h_j^Ag) + φ(h_j^Ag,h_i^Ab)]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p_ij = σ(z_ij),   d_p = 128</a:t>
            </a:r>
          </a:p>
        </p:txBody>
      </p:sp>
      <p:sp>
        <p:nvSpPr>
          <p:cNvPr id="355" name="Partner exchange detail title">
            <a:extLst xmlns:a="http://schemas.openxmlformats.org/drawingml/2006/main">
              <a:ext uri="{FF2B5EF4-FFF2-40B4-BE49-F238E27FC236}">
                <a16:creationId xmlns:a16="http://schemas.microsoft.com/office/drawing/2014/main" id="{A27FED6E-03A2-4480-9BED-EC8D0BE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Interleaved Geometry-Aware Partner-Exchange Block  (one of L = 2)</a:t>
            </a:r>
          </a:p>
        </p:txBody>
      </p:sp>
      <p:sp>
        <p:nvSpPr>
          <p:cNvPr id="356" name="Factorized intra-chain encoder detail">
            <a:extLst xmlns:a="http://schemas.openxmlformats.org/drawingml/2006/main">
              <a:ext uri="{FF2B5EF4-FFF2-40B4-BE49-F238E27FC236}">
                <a16:creationId xmlns:a16="http://schemas.microsoft.com/office/drawing/2014/main" id="{53ADD39A-2751-4C52-9DD4-43DD2A56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5717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EFF5FF"/>
          </a:solidFill>
          <a:ln xmlns:a="http://schemas.openxmlformats.org/drawingml/2006/main" w="11906">
            <a:solidFill>
              <a:srgbClr val="5B8DEF"/>
            </a:solidFill>
            <a:prstDash val="solid"/>
          </a:ln>
        </p:spPr>
        <p:txBody>
          <a:bodyPr xmlns:a="http://schemas.openxmlformats.org/drawingml/2006/main" wrap="square" lIns="76200" tIns="76200" rIns="76200" bIns="66675" anchor="ctr">
            <a:normAutofit fontScale="88928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Parallel Ab / Ag intra-chain encoders</a:t>
            </a:r>
          </a:p>
          <a:p xmlns:a="http://schemas.openxmlformats.org/drawingml/2006/main">
            <a:pPr algn="ctr">
              <a:spcAft>
                <a:spcPts val="1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Dense content self-attention</a:t>
            </a:r>
          </a:p>
          <a:p xmlns:a="http://schemas.openxmlformats.org/drawingml/2006/main">
            <a:pPr algn="ctr">
              <a:spcAft>
                <a:spcPts val="4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223247"/>
                </a:solidFill>
                <a:latin typeface="Arial"/>
                <a:ea typeface="Arial"/>
                <a:cs typeface="Arial"/>
              </a:rPr>
              <a:t>∥  Local geometry-biased self-attention</a:t>
            </a:r>
          </a:p>
          <a:p xmlns:a="http://schemas.openxmlformats.org/drawingml/2006/main">
            <a:pPr algn="ctr">
              <a:spcAft>
                <a:spcPts val="3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E6C7B"/>
                </a:solidFill>
                <a:latin typeface="Arial"/>
                <a:ea typeface="Arial"/>
                <a:cs typeface="Arial"/>
              </a:rPr>
              <a:t>same physical chain · RoPE · SiLU FFN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870">
                <a:solidFill>
                  <a:srgbClr val="5E6C7B"/>
                </a:solidFill>
                <a:latin typeface="Arial"/>
                <a:ea typeface="Arial"/>
                <a:cs typeface="Arial"/>
              </a:rPr>
              <a:t>H = H_dense + tanh(g_geom)(H_local − H_in);  g_geom = 0 init</a:t>
            </a:r>
          </a:p>
        </p:txBody>
      </p:sp>
      <p:sp>
        <p:nvSpPr>
          <p:cNvPr id="357" name="Bidirectional cross-attention detail">
            <a:extLst xmlns:a="http://schemas.openxmlformats.org/drawingml/2006/main">
              <a:ext uri="{FF2B5EF4-FFF2-40B4-BE49-F238E27FC236}">
                <a16:creationId xmlns:a16="http://schemas.microsoft.com/office/drawing/2014/main" id="{EF27C634-89EA-4F66-88FB-F6F2F87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0383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76200" tIns="76200" rIns="76200" bIns="66675" anchor="ctr">
            <a:normAutofit fontScale="793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Simultaneous partner exchange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14F7A"/>
                </a:solidFill>
                <a:latin typeface="Arial"/>
                <a:ea typeface="Arial"/>
                <a:cs typeface="Arial"/>
              </a:rPr>
              <a:t>Ab  ←  Ag</a:t>
            </a:r>
          </a:p>
          <a:p xmlns:a="http://schemas.openxmlformats.org/drawingml/2006/main">
            <a:pPr algn="ctr">
              <a:spcAft>
                <a:spcPts val="6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2D6B3D"/>
                </a:solidFill>
                <a:latin typeface="Arial"/>
                <a:ea typeface="Arial"/>
                <a:cs typeface="Arial"/>
              </a:rPr>
              <a:t>Ag  ←  Ab</a:t>
            </a:r>
          </a:p>
          <a:p xmlns:a="http://schemas.openxmlformats.org/drawingml/2006/main">
            <a:pPr algn="ctr">
              <a:spcAft>
                <a:spcPts val="2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223247"/>
                </a:solidFill>
                <a:latin typeface="Arial"/>
                <a:ea typeface="Arial"/>
                <a:cs typeface="Arial"/>
              </a:rPr>
              <a:t>multi-head · content-only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880">
                <a:solidFill>
                  <a:srgbClr val="5E6C7B"/>
                </a:solidFill>
                <a:latin typeface="Arial"/>
                <a:ea typeface="Arial"/>
                <a:cs typeface="Arial"/>
              </a:rPr>
              <a:t>both directions read the same pre-cross states</a:t>
            </a:r>
          </a:p>
        </p:txBody>
      </p:sp>
      <p:cxnSp>
        <p:nvCxnSpPr>
          <p:cNvPr id="608" name=""/>
          <p:cNvCxnSpPr>
            <a:stCxn xmlns:a="http://schemas.openxmlformats.org/drawingml/2006/main" id="356" idx="3"/>
            <a:endCxn xmlns:a="http://schemas.openxmlformats.org/drawingml/2006/main" id="357" idx="1"/>
          </p:cNvCxnSpPr>
          <p:nvPr/>
        </p:nvCxnSpPr>
        <p:spPr>
          <a:xfrm xmlns:a="http://schemas.openxmlformats.org/drawingml/2006/main">
            <a:off x="3333750" y="47005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72D1"/>
            </a:solidFill>
            <a:prstDash val="solid"/>
            <a:headEnd type="triangle" w="sm" len="sm"/>
          </a:ln>
        </p:spPr>
      </p:cxnSp>
      <p:sp>
        <p:nvSpPr>
          <p:cNvPr id="359" name="Interleaved order note">
            <a:extLst xmlns:a="http://schemas.openxmlformats.org/drawingml/2006/main">
              <a:ext uri="{FF2B5EF4-FFF2-40B4-BE49-F238E27FC236}">
                <a16:creationId xmlns:a16="http://schemas.microsoft.com/office/drawing/2014/main" id="{F22FC0F0-F8DD-4609-8222-BA3BD83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8387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9149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Per block: [parallel Ab/Ag intra-chain encoding]  →  [simultaneous Ab←Ag and Ag←Ab]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788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23247"/>
                </a:solidFill>
                <a:latin typeface="Arial"/>
                <a:ea typeface="Arial"/>
                <a:cs typeface="Arial"/>
              </a:rPr>
              <a:t>Geometry enters only the local same-chain attention bias; pair/contact logits are not used by the frozen content-only cross-attention.</a:t>
            </a:r>
          </a:p>
        </p:txBody>
      </p:sp>
      <p:sp>
        <p:nvSpPr>
          <p:cNvPr id="360" name="Seed-matched task router">
            <a:extLst xmlns:a="http://schemas.openxmlformats.org/drawingml/2006/main">
              <a:ext uri="{FF2B5EF4-FFF2-40B4-BE49-F238E27FC236}">
                <a16:creationId xmlns:a16="http://schemas.microsoft.com/office/drawing/2014/main" id="{C9C3C853-1A35-40CF-AD0E-748CAFF9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5543550" cy="257175"/>
          </a:xfrm>
          <a:prstGeom xmlns:a="http://schemas.openxmlformats.org/drawingml/2006/main" prst="roundRect">
            <a:avLst>
              <a:gd name="adj" fmla="val 37037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11906">
            <a:solidFill>
              <a:srgbClr val="8B72D1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1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5C438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5C438F"/>
                </a:solidFill>
                <a:latin typeface="Arial"/>
                <a:ea typeface="Arial"/>
                <a:cs typeface="Arial"/>
              </a:rPr>
              <a:t>Seed-matched fixed router  r ∈ {17, 29, 43}:  contact + paratope ← J_r   |   epitope ← E_r</a:t>
            </a:r>
          </a:p>
        </p:txBody>
      </p:sp>
      <p:cxnSp>
        <p:nvCxnSpPr>
          <p:cNvPr id="611" name=""/>
          <p:cNvCxnSpPr>
            <a:stCxn xmlns:a="http://schemas.openxmlformats.org/drawingml/2006/main" id="360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 flipH="1">
            <a:off x="6810375" y="3819525"/>
            <a:ext cx="19431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cxnSp>
        <p:nvCxnSpPr>
          <p:cNvPr id="612" name=""/>
          <p:cNvCxnSpPr>
            <a:stCxn xmlns:a="http://schemas.openxmlformats.org/drawingml/2006/main" id="360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 flipH="1">
            <a:off x="8639175" y="3819525"/>
            <a:ext cx="1143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cxnSp>
        <p:nvCxnSpPr>
          <p:cNvPr id="613" name=""/>
          <p:cNvCxnSpPr>
            <a:stCxn xmlns:a="http://schemas.openxmlformats.org/drawingml/2006/main" id="360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8753475" y="3819525"/>
            <a:ext cx="18288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9C5D3"/>
            </a:solidFill>
            <a:prstDash val="solid"/>
            <a:headEnd type="triangle" w="sm" len="sm"/>
          </a:ln>
        </p:spPr>
      </p:cxnSp>
      <p:sp>
        <p:nvSpPr>
          <p:cNvPr id="364" name="Routing boundary note">
            <a:extLst xmlns:a="http://schemas.openxmlformats.org/drawingml/2006/main">
              <a:ext uri="{FF2B5EF4-FFF2-40B4-BE49-F238E27FC236}">
                <a16:creationId xmlns:a16="http://schemas.microsoft.com/office/drawing/2014/main" id="{1D180DB5-CAC8-4918-8296-BC88492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546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5E6C7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E6C7B"/>
                </a:solidFill>
                <a:latin typeface="Arial"/>
                <a:ea typeface="Arial"/>
                <a:cs typeface="Arial"/>
              </a:rPr>
              <a:t>Continuous scores are routed; no mixture-weight tuning and no thresholded-label routing.</a:t>
            </a:r>
          </a:p>
        </p:txBody>
      </p:sp>
      <p:sp>
        <p:nvSpPr>
          <p:cNvPr id="365" name="Sequence-only input boundary">
            <a:extLst xmlns:a="http://schemas.openxmlformats.org/drawingml/2006/main">
              <a:ext uri="{FF2B5EF4-FFF2-40B4-BE49-F238E27FC236}">
                <a16:creationId xmlns:a16="http://schemas.microsoft.com/office/drawing/2014/main" id="{1C5337F4-E129-4E84-B3E1-CEB8D46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85950"/>
            <a:ext cx="165735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1906">
            <a:solidFill>
              <a:srgbClr val="B7C3D0"/>
            </a:solidFill>
            <a:prstDash val="solid"/>
          </a:ln>
        </p:spPr>
        <p:txBody>
          <a:bodyPr xmlns:a="http://schemas.openxmlformats.org/drawingml/2006/main" wrap="square" lIns="85725" tIns="85725" rIns="85725" bIns="76200" anchor="ctr">
            <a:normAutofit fontScale="95213"/>
          </a:bodyPr>
          <a:lstStyle xmlns:a="http://schemas.openxmlformats.org/drawingml/2006/main"/>
          <a:p xmlns:a="http://schemas.openxmlformats.org/drawingml/2006/main">
            <a:pPr algn="l">
              <a:spcAft>
                <a:spcPts val="7"/>
              </a:spcAft>
              <a:buNone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23247"/>
                </a:solidFill>
                <a:latin typeface="Arial"/>
                <a:ea typeface="Arial"/>
                <a:cs typeface="Arial"/>
              </a:rPr>
              <a:t>SEQUENCE-ONLY INPUT BOUNDARY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223247"/>
                </a:solidFill>
                <a:latin typeface="Arial"/>
                <a:ea typeface="Arial"/>
                <a:cs typeface="Arial"/>
              </a:rPr>
              <a:t>PLM residue embeddings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223247"/>
                </a:solidFill>
                <a:latin typeface="Arial"/>
                <a:ea typeface="Arial"/>
                <a:cs typeface="Arial"/>
              </a:rPr>
              <a:t>chain-internal predicted N/CA/C</a:t>
            </a:r>
          </a:p>
          <a:p xmlns:a="http://schemas.openxmlformats.org/drawingml/2006/main">
            <a:pPr marL="14" indent="-8" algn="l">
              <a:spcAft>
                <a:spcPts val="3"/>
              </a:spcAft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20">
                <a:solidFill>
                  <a:srgbClr val="223247"/>
                </a:solidFill>
                <a:latin typeface="Arial"/>
                <a:ea typeface="Arial"/>
                <a:cs typeface="Arial"/>
              </a:rPr>
              <a:t>no cross-partner coordinates or true distances</a:t>
            </a:r>
          </a:p>
          <a:p xmlns:a="http://schemas.openxmlformats.org/drawingml/2006/main">
            <a:pPr marL="14" indent="-8" algn="l">
              <a:buChar char="•"/>
              <a:defRPr sz="975" b="0">
                <a:solidFill>
                  <a:srgbClr val="223247"/>
                </a:solidFill>
                <a:latin typeface="Arial"/>
                <a:ea typeface="Arial"/>
                <a:cs typeface="Arial"/>
              </a:defRPr>
            </a:pPr>
            <a:r>
              <a:rPr sz="920">
                <a:solidFill>
                  <a:srgbClr val="223247"/>
                </a:solidFill>
                <a:latin typeface="Arial"/>
                <a:ea typeface="Arial"/>
                <a:cs typeface="Arial"/>
              </a:rPr>
              <a:t>no contact labels as model input</a:t>
            </a:r>
          </a:p>
        </p:txBody>
      </p:sp>
    </p:spTree>
    <p:extLst>
      <p:ext uri="{BB962C8B-B14F-4D97-AF65-F5344CB8AC3E}">
        <p14:creationId xmlns:p14="http://schemas.microsoft.com/office/powerpoint/2010/main" val="8146545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2026-08-29T08:24:42.2450000Z</dcterms:created>
  <dcterms:modified xsi:type="dcterms:W3CDTF">2026-08-29T08:24:42.2450000Z</dcterms:modified>
</coreProperties>
</file>